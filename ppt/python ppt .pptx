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66" r:id="rId3"/>
    <p:sldId id="256" r:id="rId4"/>
    <p:sldId id="258" r:id="rId5"/>
    <p:sldId id="259" r:id="rId6"/>
    <p:sldId id="260" r:id="rId7"/>
    <p:sldId id="261" r:id="rId8"/>
    <p:sldId id="265" r:id="rId9"/>
    <p:sldId id="263" r:id="rId10"/>
    <p:sldId id="264" r:id="rId11"/>
    <p:sldId id="267" r:id="rId12"/>
    <p:sldId id="268" r:id="rId13"/>
    <p:sldId id="269" r:id="rId14"/>
    <p:sldId id="271" r:id="rId15"/>
    <p:sldId id="272" r:id="rId16"/>
    <p:sldId id="273" r:id="rId17"/>
    <p:sldId id="274" r:id="rId18"/>
    <p:sldId id="276" r:id="rId19"/>
    <p:sldId id="277" r:id="rId20"/>
    <p:sldId id="278" r:id="rId21"/>
    <p:sldId id="279" r:id="rId22"/>
    <p:sldId id="280"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COT" initials="E" lastIdx="4" clrIdx="0">
    <p:extLst>
      <p:ext uri="{19B8F6BF-5375-455C-9EA6-DF929625EA0E}">
        <p15:presenceInfo xmlns:p15="http://schemas.microsoft.com/office/powerpoint/2012/main" userId="ELCO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34" autoAdjust="0"/>
  </p:normalViewPr>
  <p:slideViewPr>
    <p:cSldViewPr snapToGrid="0">
      <p:cViewPr varScale="1">
        <p:scale>
          <a:sx n="74" d="100"/>
          <a:sy n="74"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C19E2B-BD98-4F63-A9D4-C03D03A6AA0B}" type="datetimeFigureOut">
              <a:rPr lang="en-IN" smtClean="0"/>
              <a:t>03-10-2022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98A1D9-D4BA-4DD1-8AEE-41CBB9C38068}" type="slidenum">
              <a:rPr lang="en-IN" smtClean="0"/>
              <a:t>‹#›</a:t>
            </a:fld>
            <a:endParaRPr lang="en-IN"/>
          </a:p>
        </p:txBody>
      </p:sp>
    </p:spTree>
    <p:extLst>
      <p:ext uri="{BB962C8B-B14F-4D97-AF65-F5344CB8AC3E}">
        <p14:creationId xmlns:p14="http://schemas.microsoft.com/office/powerpoint/2010/main" val="308316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A98A1D9-D4BA-4DD1-8AEE-41CBB9C38068}" type="slidenum">
              <a:rPr lang="en-IN" smtClean="0"/>
              <a:t>18</a:t>
            </a:fld>
            <a:endParaRPr lang="en-IN"/>
          </a:p>
        </p:txBody>
      </p:sp>
    </p:spTree>
    <p:extLst>
      <p:ext uri="{BB962C8B-B14F-4D97-AF65-F5344CB8AC3E}">
        <p14:creationId xmlns:p14="http://schemas.microsoft.com/office/powerpoint/2010/main" val="3912221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12A1BA2-A2BE-4BB4-8208-75370577CAE7}" type="datetimeFigureOut">
              <a:rPr lang="en-IN" smtClean="0"/>
              <a:t>03-10-2022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3299772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2A1BA2-A2BE-4BB4-8208-75370577CAE7}" type="datetimeFigureOut">
              <a:rPr lang="en-IN" smtClean="0"/>
              <a:t>03-10-2022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2822895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2A1BA2-A2BE-4BB4-8208-75370577CAE7}" type="datetimeFigureOut">
              <a:rPr lang="en-IN" smtClean="0"/>
              <a:t>03-10-2022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36507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12A1BA2-A2BE-4BB4-8208-75370577CAE7}" type="datetimeFigureOut">
              <a:rPr lang="en-IN" smtClean="0"/>
              <a:t>03-10-2022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2005768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12A1BA2-A2BE-4BB4-8208-75370577CAE7}" type="datetimeFigureOut">
              <a:rPr lang="en-IN" smtClean="0"/>
              <a:t>03-10-2022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1787880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12A1BA2-A2BE-4BB4-8208-75370577CAE7}" type="datetimeFigureOut">
              <a:rPr lang="en-IN" smtClean="0"/>
              <a:t>03-10-2022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1851970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2A1BA2-A2BE-4BB4-8208-75370577CAE7}" type="datetimeFigureOut">
              <a:rPr lang="en-IN" smtClean="0"/>
              <a:t>03-10-2022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1109426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2A1BA2-A2BE-4BB4-8208-75370577CAE7}" type="datetimeFigureOut">
              <a:rPr lang="en-IN" smtClean="0"/>
              <a:t>03-10-2022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3545683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2A1BA2-A2BE-4BB4-8208-75370577CAE7}" type="datetimeFigureOut">
              <a:rPr lang="en-IN" smtClean="0"/>
              <a:t>03-10-2022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64934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2A1BA2-A2BE-4BB4-8208-75370577CAE7}" type="datetimeFigureOut">
              <a:rPr lang="en-IN" smtClean="0"/>
              <a:t>03-10-2022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2730665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12A1BA2-A2BE-4BB4-8208-75370577CAE7}" type="datetimeFigureOut">
              <a:rPr lang="en-IN" smtClean="0"/>
              <a:t>03-10-2022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70415-87C5-4E2B-AFD1-FDE66A76730E}" type="slidenum">
              <a:rPr lang="en-IN" smtClean="0"/>
              <a:t>‹#›</a:t>
            </a:fld>
            <a:endParaRPr lang="en-IN"/>
          </a:p>
        </p:txBody>
      </p:sp>
    </p:spTree>
    <p:extLst>
      <p:ext uri="{BB962C8B-B14F-4D97-AF65-F5344CB8AC3E}">
        <p14:creationId xmlns:p14="http://schemas.microsoft.com/office/powerpoint/2010/main" val="410583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A1BA2-A2BE-4BB4-8208-75370577CAE7}" type="datetimeFigureOut">
              <a:rPr lang="en-IN" smtClean="0"/>
              <a:t>03-10-2022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F70415-87C5-4E2B-AFD1-FDE66A76730E}" type="slidenum">
              <a:rPr lang="en-IN" smtClean="0"/>
              <a:t>‹#›</a:t>
            </a:fld>
            <a:endParaRPr lang="en-IN"/>
          </a:p>
        </p:txBody>
      </p:sp>
    </p:spTree>
    <p:extLst>
      <p:ext uri="{BB962C8B-B14F-4D97-AF65-F5344CB8AC3E}">
        <p14:creationId xmlns:p14="http://schemas.microsoft.com/office/powerpoint/2010/main" val="447551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delattr-del-pytho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garbage-collection-pyth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differences-between-procedural-and-object-oriented-programm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ynative.com/python-instance-methods/" TargetMode="External"/><Relationship Id="rId2" Type="http://schemas.openxmlformats.org/officeDocument/2006/relationships/hyperlink" Target="https://en.wikipedia.org/wiki/Encapsulation_(computer_programming)" TargetMode="External"/><Relationship Id="rId1" Type="http://schemas.openxmlformats.org/officeDocument/2006/relationships/slideLayout" Target="../slideLayouts/slideLayout2.xml"/><Relationship Id="rId5" Type="http://schemas.openxmlformats.org/officeDocument/2006/relationships/hyperlink" Target="https://pynative.com/python-instance-variables/" TargetMode="External"/><Relationship Id="rId4" Type="http://schemas.openxmlformats.org/officeDocument/2006/relationships/hyperlink" Target="https://pynative.com/python-classes-and-object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7849" y="3925813"/>
            <a:ext cx="2059351" cy="2059351"/>
          </a:xfrm>
          <a:prstGeom prst="rect">
            <a:avLst/>
          </a:prstGeom>
        </p:spPr>
      </p:pic>
      <p:sp>
        <p:nvSpPr>
          <p:cNvPr id="5" name="Rectangle 4"/>
          <p:cNvSpPr/>
          <p:nvPr/>
        </p:nvSpPr>
        <p:spPr>
          <a:xfrm>
            <a:off x="274356" y="212794"/>
            <a:ext cx="11612844" cy="5355312"/>
          </a:xfrm>
          <a:prstGeom prst="rect">
            <a:avLst/>
          </a:prstGeom>
        </p:spPr>
        <p:txBody>
          <a:bodyPr wrap="square">
            <a:spAutoFit/>
          </a:bodyPr>
          <a:lstStyle/>
          <a:p>
            <a:r>
              <a:rPr lang="en-US" b="1" i="0" dirty="0" smtClean="0">
                <a:solidFill>
                  <a:srgbClr val="000000"/>
                </a:solidFill>
                <a:effectLst/>
                <a:latin typeface="urw-din"/>
              </a:rPr>
              <a:t>WHAT IS PYTHON?</a:t>
            </a:r>
          </a:p>
          <a:p>
            <a:endParaRPr lang="en-US" dirty="0" smtClean="0">
              <a:solidFill>
                <a:srgbClr val="000000"/>
              </a:solidFill>
              <a:latin typeface="urw-din"/>
            </a:endParaRPr>
          </a:p>
          <a:p>
            <a:r>
              <a:rPr lang="en-US" b="1" dirty="0" smtClean="0">
                <a:latin typeface="urw-din"/>
              </a:rPr>
              <a:t>	Python</a:t>
            </a:r>
            <a:r>
              <a:rPr lang="en-US" dirty="0">
                <a:latin typeface="urw-din"/>
              </a:rPr>
              <a:t> is a very popular general-purpose interpreted, interactive, object-oriented, and high-level programming language</a:t>
            </a:r>
            <a:r>
              <a:rPr lang="en-US" dirty="0" smtClean="0">
                <a:latin typeface="urw-din"/>
              </a:rPr>
              <a:t>. It </a:t>
            </a:r>
            <a:r>
              <a:rPr lang="en-US" dirty="0">
                <a:latin typeface="urw-din"/>
              </a:rPr>
              <a:t>was created by </a:t>
            </a:r>
            <a:r>
              <a:rPr lang="en-US" b="1" dirty="0">
                <a:latin typeface="urw-din"/>
              </a:rPr>
              <a:t>Guido van </a:t>
            </a:r>
            <a:r>
              <a:rPr lang="en-US" b="1" dirty="0" err="1">
                <a:latin typeface="urw-din"/>
              </a:rPr>
              <a:t>Rossum</a:t>
            </a:r>
            <a:r>
              <a:rPr lang="en-US" b="1" dirty="0">
                <a:latin typeface="urw-din"/>
              </a:rPr>
              <a:t> </a:t>
            </a:r>
            <a:r>
              <a:rPr lang="en-US" dirty="0">
                <a:latin typeface="urw-din"/>
              </a:rPr>
              <a:t>during </a:t>
            </a:r>
            <a:r>
              <a:rPr lang="en-US" b="1" dirty="0" smtClean="0">
                <a:latin typeface="urw-din"/>
              </a:rPr>
              <a:t>1985- 1990</a:t>
            </a:r>
            <a:r>
              <a:rPr lang="en-US" dirty="0">
                <a:latin typeface="urw-din"/>
              </a:rPr>
              <a:t>. Like Perl, Python source code is also available under the GNU General Public License (GPL</a:t>
            </a:r>
            <a:r>
              <a:rPr lang="en-US" dirty="0" smtClean="0">
                <a:latin typeface="urw-din"/>
              </a:rPr>
              <a:t>)</a:t>
            </a:r>
          </a:p>
          <a:p>
            <a:endParaRPr lang="en-US" b="0" i="0" dirty="0">
              <a:solidFill>
                <a:srgbClr val="000000"/>
              </a:solidFill>
              <a:effectLst/>
              <a:latin typeface="urw-din"/>
            </a:endParaRPr>
          </a:p>
          <a:p>
            <a:pPr marL="285750" indent="-285750">
              <a:buFont typeface="Arial" panose="020B0604020202020204" pitchFamily="34" charset="0"/>
              <a:buChar char="•"/>
            </a:pPr>
            <a:r>
              <a:rPr lang="en-US" b="1" dirty="0">
                <a:latin typeface="urw-din"/>
              </a:rPr>
              <a:t>Python is Interpreted</a:t>
            </a:r>
            <a:r>
              <a:rPr lang="en-US" dirty="0">
                <a:latin typeface="urw-din"/>
              </a:rPr>
              <a:t> − Python is processed at runtime by the interpreter. You do not need to compile your program before executing it. This is similar to PERL and PHP.</a:t>
            </a:r>
          </a:p>
          <a:p>
            <a:pPr marL="285750" indent="-285750">
              <a:buFont typeface="Arial" panose="020B0604020202020204" pitchFamily="34" charset="0"/>
              <a:buChar char="•"/>
            </a:pPr>
            <a:r>
              <a:rPr lang="en-US" b="1" dirty="0">
                <a:latin typeface="urw-din"/>
              </a:rPr>
              <a:t>Python is Interactive</a:t>
            </a:r>
            <a:r>
              <a:rPr lang="en-US" dirty="0">
                <a:latin typeface="urw-din"/>
              </a:rPr>
              <a:t> − You can actually sit at a Python prompt and interact with the interpreter directly to write your programs.</a:t>
            </a:r>
          </a:p>
          <a:p>
            <a:pPr marL="285750" indent="-285750">
              <a:buFont typeface="Arial" panose="020B0604020202020204" pitchFamily="34" charset="0"/>
              <a:buChar char="•"/>
            </a:pPr>
            <a:r>
              <a:rPr lang="en-US" b="1" dirty="0">
                <a:latin typeface="urw-din"/>
              </a:rPr>
              <a:t>Python is Object-Oriented</a:t>
            </a:r>
            <a:r>
              <a:rPr lang="en-US" dirty="0">
                <a:latin typeface="urw-din"/>
              </a:rPr>
              <a:t> − Python supports Object-Oriented style or technique of programming that encapsulates code within objects.</a:t>
            </a:r>
          </a:p>
          <a:p>
            <a:pPr algn="just"/>
            <a:endParaRPr lang="en-US" b="0" i="0" dirty="0" smtClean="0">
              <a:solidFill>
                <a:srgbClr val="000000"/>
              </a:solidFill>
              <a:effectLst/>
              <a:latin typeface="urw-din"/>
            </a:endParaRPr>
          </a:p>
          <a:p>
            <a:pPr marL="285750" indent="-285750">
              <a:buFont typeface="Arial" panose="020B0604020202020204" pitchFamily="34" charset="0"/>
              <a:buChar char="•"/>
            </a:pPr>
            <a:r>
              <a:rPr lang="en-US" dirty="0">
                <a:latin typeface="urw-din"/>
              </a:rPr>
              <a:t>Python can be used on a server to create web applications.</a:t>
            </a:r>
          </a:p>
          <a:p>
            <a:pPr marL="285750" indent="-285750">
              <a:buFont typeface="Arial" panose="020B0604020202020204" pitchFamily="34" charset="0"/>
              <a:buChar char="•"/>
            </a:pPr>
            <a:r>
              <a:rPr lang="en-US" dirty="0">
                <a:latin typeface="urw-din"/>
              </a:rPr>
              <a:t>Python can be used alongside software to create workflows.</a:t>
            </a:r>
          </a:p>
          <a:p>
            <a:pPr marL="285750" indent="-285750">
              <a:buFont typeface="Arial" panose="020B0604020202020204" pitchFamily="34" charset="0"/>
              <a:buChar char="•"/>
            </a:pPr>
            <a:r>
              <a:rPr lang="en-US" dirty="0">
                <a:latin typeface="urw-din"/>
              </a:rPr>
              <a:t>Python can connect to database systems. It can also read and modify files.</a:t>
            </a:r>
          </a:p>
          <a:p>
            <a:pPr marL="285750" indent="-285750">
              <a:buFont typeface="Arial" panose="020B0604020202020204" pitchFamily="34" charset="0"/>
              <a:buChar char="•"/>
            </a:pPr>
            <a:r>
              <a:rPr lang="en-US" dirty="0">
                <a:latin typeface="urw-din"/>
              </a:rPr>
              <a:t>Python can be used to handle big data and perform complex mathematics.</a:t>
            </a:r>
          </a:p>
          <a:p>
            <a:pPr marL="285750" indent="-285750">
              <a:buFont typeface="Arial" panose="020B0604020202020204" pitchFamily="34" charset="0"/>
              <a:buChar char="•"/>
            </a:pPr>
            <a:r>
              <a:rPr lang="en-US" dirty="0">
                <a:latin typeface="urw-din"/>
              </a:rPr>
              <a:t>Python can be used for rapid prototyping, or for production-ready software development.</a:t>
            </a:r>
          </a:p>
          <a:p>
            <a:pPr marL="285750" indent="-285750">
              <a:buFont typeface="Arial" panose="020B0604020202020204" pitchFamily="34" charset="0"/>
              <a:buChar char="•"/>
            </a:pPr>
            <a:endParaRPr lang="en-US" dirty="0" smtClean="0">
              <a:solidFill>
                <a:srgbClr val="000000"/>
              </a:solidFill>
              <a:latin typeface="urw-din"/>
            </a:endParaRPr>
          </a:p>
        </p:txBody>
      </p:sp>
    </p:spTree>
    <p:extLst>
      <p:ext uri="{BB962C8B-B14F-4D97-AF65-F5344CB8AC3E}">
        <p14:creationId xmlns:p14="http://schemas.microsoft.com/office/powerpoint/2010/main" val="3553871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4072" y="166255"/>
            <a:ext cx="11817928" cy="6463308"/>
          </a:xfrm>
          <a:prstGeom prst="rect">
            <a:avLst/>
          </a:prstGeom>
          <a:noFill/>
        </p:spPr>
        <p:txBody>
          <a:bodyPr wrap="square" rtlCol="0">
            <a:spAutoFit/>
          </a:bodyPr>
          <a:lstStyle/>
          <a:p>
            <a:r>
              <a:rPr lang="en-IN" dirty="0" smtClean="0">
                <a:solidFill>
                  <a:srgbClr val="00B050"/>
                </a:solidFill>
                <a:latin typeface="urw-din"/>
              </a:rPr>
              <a:t>print</a:t>
            </a:r>
            <a:r>
              <a:rPr lang="en-IN" dirty="0">
                <a:solidFill>
                  <a:srgbClr val="00B050"/>
                </a:solidFill>
                <a:latin typeface="urw-din"/>
              </a:rPr>
              <a:t>("Hello, World!")</a:t>
            </a:r>
          </a:p>
          <a:p>
            <a:r>
              <a:rPr lang="en-US" dirty="0">
                <a:solidFill>
                  <a:srgbClr val="00B050"/>
                </a:solidFill>
                <a:latin typeface="urw-din"/>
              </a:rPr>
              <a:t>Hello world!</a:t>
            </a:r>
          </a:p>
          <a:p>
            <a:endParaRPr lang="en-US" b="1" dirty="0">
              <a:solidFill>
                <a:srgbClr val="00B050"/>
              </a:solidFill>
              <a:latin typeface="urw-din"/>
            </a:endParaRPr>
          </a:p>
          <a:p>
            <a:r>
              <a:rPr lang="en-US" b="1" dirty="0">
                <a:solidFill>
                  <a:srgbClr val="000000"/>
                </a:solidFill>
                <a:latin typeface="urw-din"/>
              </a:rPr>
              <a:t>DATA TYPES</a:t>
            </a:r>
          </a:p>
          <a:p>
            <a:pPr marL="285750" indent="-285750">
              <a:buFont typeface="Arial" panose="020B0604020202020204" pitchFamily="34" charset="0"/>
              <a:buChar char="•"/>
            </a:pPr>
            <a:r>
              <a:rPr lang="en-US" dirty="0" smtClean="0">
                <a:solidFill>
                  <a:srgbClr val="000000"/>
                </a:solidFill>
                <a:latin typeface="urw-din"/>
              </a:rPr>
              <a:t>Numeric – this </a:t>
            </a:r>
            <a:r>
              <a:rPr lang="en-US" dirty="0">
                <a:solidFill>
                  <a:srgbClr val="000000"/>
                </a:solidFill>
                <a:latin typeface="urw-din"/>
              </a:rPr>
              <a:t>v</a:t>
            </a:r>
            <a:r>
              <a:rPr lang="en-US" dirty="0" smtClean="0">
                <a:solidFill>
                  <a:srgbClr val="000000"/>
                </a:solidFill>
                <a:latin typeface="urw-din"/>
              </a:rPr>
              <a:t>alue represent by the data which is numeric value</a:t>
            </a:r>
            <a:endParaRPr lang="en-US" dirty="0">
              <a:solidFill>
                <a:srgbClr val="000000"/>
              </a:solidFill>
              <a:latin typeface="urw-din"/>
            </a:endParaRPr>
          </a:p>
          <a:p>
            <a:pPr marL="285750" indent="-285750">
              <a:buFont typeface="Wingdings" panose="05000000000000000000" pitchFamily="2" charset="2"/>
              <a:buChar char="Ø"/>
            </a:pPr>
            <a:r>
              <a:rPr lang="en-US" dirty="0">
                <a:solidFill>
                  <a:srgbClr val="00B050"/>
                </a:solidFill>
                <a:latin typeface="urw-din"/>
              </a:rPr>
              <a:t>          </a:t>
            </a:r>
            <a:r>
              <a:rPr lang="en-US" dirty="0" err="1" smtClean="0">
                <a:solidFill>
                  <a:srgbClr val="00B050"/>
                </a:solidFill>
                <a:latin typeface="urw-din"/>
              </a:rPr>
              <a:t>int</a:t>
            </a:r>
            <a:r>
              <a:rPr lang="en-US" dirty="0" smtClean="0">
                <a:solidFill>
                  <a:srgbClr val="00B050"/>
                </a:solidFill>
                <a:latin typeface="urw-din"/>
              </a:rPr>
              <a:t> =1,2,3, </a:t>
            </a:r>
          </a:p>
          <a:p>
            <a:pPr marL="285750" indent="-285750">
              <a:buFont typeface="Wingdings" panose="05000000000000000000" pitchFamily="2" charset="2"/>
              <a:buChar char="Ø"/>
            </a:pPr>
            <a:r>
              <a:rPr lang="en-US" dirty="0">
                <a:solidFill>
                  <a:srgbClr val="00B050"/>
                </a:solidFill>
                <a:latin typeface="urw-din"/>
              </a:rPr>
              <a:t> </a:t>
            </a:r>
            <a:r>
              <a:rPr lang="en-US" dirty="0" smtClean="0">
                <a:solidFill>
                  <a:srgbClr val="00B050"/>
                </a:solidFill>
                <a:latin typeface="urw-din"/>
              </a:rPr>
              <a:t>         float=1.22, </a:t>
            </a:r>
          </a:p>
          <a:p>
            <a:pPr marL="285750" indent="-285750">
              <a:buFont typeface="Wingdings" panose="05000000000000000000" pitchFamily="2" charset="2"/>
              <a:buChar char="Ø"/>
            </a:pPr>
            <a:r>
              <a:rPr lang="en-US" dirty="0">
                <a:solidFill>
                  <a:srgbClr val="00B050"/>
                </a:solidFill>
                <a:latin typeface="urw-din"/>
              </a:rPr>
              <a:t> </a:t>
            </a:r>
            <a:r>
              <a:rPr lang="en-US" dirty="0" smtClean="0">
                <a:solidFill>
                  <a:srgbClr val="00B050"/>
                </a:solidFill>
                <a:latin typeface="urw-din"/>
              </a:rPr>
              <a:t>         complex=1+2j</a:t>
            </a:r>
            <a:endParaRPr lang="en-US" dirty="0">
              <a:solidFill>
                <a:srgbClr val="00B050"/>
              </a:solidFill>
              <a:latin typeface="urw-din"/>
            </a:endParaRPr>
          </a:p>
          <a:p>
            <a:pPr marL="285750" indent="-285750">
              <a:buFont typeface="Arial" panose="020B0604020202020204" pitchFamily="34" charset="0"/>
              <a:buChar char="•"/>
            </a:pPr>
            <a:r>
              <a:rPr lang="en-US" dirty="0">
                <a:solidFill>
                  <a:srgbClr val="000000"/>
                </a:solidFill>
                <a:latin typeface="urw-din"/>
              </a:rPr>
              <a:t>Dictionary </a:t>
            </a:r>
            <a:r>
              <a:rPr lang="en-US" dirty="0" smtClean="0">
                <a:solidFill>
                  <a:srgbClr val="000000"/>
                </a:solidFill>
                <a:latin typeface="urw-din"/>
              </a:rPr>
              <a:t>– it is a  key :value pair               </a:t>
            </a:r>
            <a:endParaRPr lang="en-US" dirty="0">
              <a:solidFill>
                <a:srgbClr val="000000"/>
              </a:solidFill>
              <a:latin typeface="urw-din"/>
            </a:endParaRPr>
          </a:p>
          <a:p>
            <a:r>
              <a:rPr lang="en-US" dirty="0">
                <a:solidFill>
                  <a:srgbClr val="000000"/>
                </a:solidFill>
                <a:latin typeface="urw-din"/>
              </a:rPr>
              <a:t>          </a:t>
            </a:r>
            <a:r>
              <a:rPr lang="en-US" dirty="0" smtClean="0">
                <a:solidFill>
                  <a:srgbClr val="000000"/>
                </a:solidFill>
                <a:latin typeface="urw-din"/>
              </a:rPr>
              <a:t>    </a:t>
            </a:r>
            <a:r>
              <a:rPr lang="en-US" dirty="0" smtClean="0">
                <a:solidFill>
                  <a:srgbClr val="00B050"/>
                </a:solidFill>
                <a:latin typeface="urw-din"/>
              </a:rPr>
              <a:t>{</a:t>
            </a:r>
            <a:r>
              <a:rPr lang="en-US" dirty="0">
                <a:solidFill>
                  <a:srgbClr val="00B050"/>
                </a:solidFill>
                <a:latin typeface="urw-din"/>
              </a:rPr>
              <a:t>1:2 , 3:4</a:t>
            </a:r>
            <a:r>
              <a:rPr lang="en-US" dirty="0" smtClean="0">
                <a:solidFill>
                  <a:srgbClr val="00B050"/>
                </a:solidFill>
                <a:latin typeface="urw-din"/>
              </a:rPr>
              <a:t>}</a:t>
            </a:r>
          </a:p>
          <a:p>
            <a:pPr marL="285750" indent="-285750">
              <a:buFont typeface="Arial" panose="020B0604020202020204" pitchFamily="34" charset="0"/>
              <a:buChar char="•"/>
            </a:pPr>
            <a:r>
              <a:rPr lang="en-US" dirty="0" smtClean="0">
                <a:solidFill>
                  <a:srgbClr val="000000"/>
                </a:solidFill>
                <a:latin typeface="urw-din"/>
              </a:rPr>
              <a:t>Set – It is an unordered collection of data type that is </a:t>
            </a:r>
            <a:r>
              <a:rPr lang="en-US" dirty="0" err="1" smtClean="0">
                <a:solidFill>
                  <a:srgbClr val="000000"/>
                </a:solidFill>
                <a:latin typeface="urw-din"/>
              </a:rPr>
              <a:t>iterable</a:t>
            </a:r>
            <a:r>
              <a:rPr lang="en-US" dirty="0" smtClean="0">
                <a:solidFill>
                  <a:srgbClr val="000000"/>
                </a:solidFill>
                <a:latin typeface="urw-din"/>
              </a:rPr>
              <a:t>, mutable. </a:t>
            </a:r>
          </a:p>
          <a:p>
            <a:r>
              <a:rPr lang="en-US" dirty="0" smtClean="0">
                <a:solidFill>
                  <a:srgbClr val="000000"/>
                </a:solidFill>
                <a:latin typeface="urw-din"/>
              </a:rPr>
              <a:t>             </a:t>
            </a:r>
            <a:r>
              <a:rPr lang="en-US" dirty="0" smtClean="0">
                <a:solidFill>
                  <a:srgbClr val="00B050"/>
                </a:solidFill>
                <a:latin typeface="urw-din"/>
              </a:rPr>
              <a:t>{1,2,3,4,5}</a:t>
            </a:r>
            <a:endParaRPr lang="en-US" dirty="0">
              <a:solidFill>
                <a:srgbClr val="00B050"/>
              </a:solidFill>
              <a:latin typeface="urw-din"/>
            </a:endParaRPr>
          </a:p>
          <a:p>
            <a:pPr marL="285750" indent="-285750">
              <a:buFont typeface="Arial" panose="020B0604020202020204" pitchFamily="34" charset="0"/>
              <a:buChar char="•"/>
            </a:pPr>
            <a:r>
              <a:rPr lang="en-US" dirty="0" smtClean="0">
                <a:solidFill>
                  <a:srgbClr val="000000"/>
                </a:solidFill>
                <a:latin typeface="urw-din"/>
              </a:rPr>
              <a:t>Boolean – data type one of the two built –in- function   </a:t>
            </a:r>
            <a:endParaRPr lang="en-US" dirty="0">
              <a:solidFill>
                <a:srgbClr val="000000"/>
              </a:solidFill>
              <a:latin typeface="urw-din"/>
            </a:endParaRPr>
          </a:p>
          <a:p>
            <a:r>
              <a:rPr lang="en-US" dirty="0">
                <a:solidFill>
                  <a:srgbClr val="00B050"/>
                </a:solidFill>
                <a:latin typeface="urw-din"/>
              </a:rPr>
              <a:t>             </a:t>
            </a:r>
            <a:r>
              <a:rPr lang="en-US" dirty="0" smtClean="0">
                <a:solidFill>
                  <a:srgbClr val="00B050"/>
                </a:solidFill>
                <a:latin typeface="urw-din"/>
              </a:rPr>
              <a:t>    true</a:t>
            </a:r>
          </a:p>
          <a:p>
            <a:r>
              <a:rPr lang="en-US" dirty="0">
                <a:solidFill>
                  <a:srgbClr val="00B050"/>
                </a:solidFill>
                <a:latin typeface="urw-din"/>
              </a:rPr>
              <a:t> </a:t>
            </a:r>
            <a:r>
              <a:rPr lang="en-US" dirty="0" smtClean="0">
                <a:solidFill>
                  <a:srgbClr val="00B050"/>
                </a:solidFill>
                <a:latin typeface="urw-din"/>
              </a:rPr>
              <a:t>                 or</a:t>
            </a:r>
          </a:p>
          <a:p>
            <a:r>
              <a:rPr lang="en-US" dirty="0">
                <a:solidFill>
                  <a:srgbClr val="00B050"/>
                </a:solidFill>
                <a:latin typeface="urw-din"/>
              </a:rPr>
              <a:t> </a:t>
            </a:r>
            <a:r>
              <a:rPr lang="en-US" dirty="0" smtClean="0">
                <a:solidFill>
                  <a:srgbClr val="00B050"/>
                </a:solidFill>
                <a:latin typeface="urw-din"/>
              </a:rPr>
              <a:t>               </a:t>
            </a:r>
            <a:r>
              <a:rPr lang="en-US" dirty="0">
                <a:solidFill>
                  <a:srgbClr val="00B050"/>
                </a:solidFill>
                <a:latin typeface="urw-din"/>
              </a:rPr>
              <a:t>false</a:t>
            </a:r>
          </a:p>
          <a:p>
            <a:pPr marL="285750" indent="-285750">
              <a:buFont typeface="Arial" panose="020B0604020202020204" pitchFamily="34" charset="0"/>
              <a:buChar char="•"/>
            </a:pPr>
            <a:r>
              <a:rPr lang="en-US" dirty="0" smtClean="0">
                <a:solidFill>
                  <a:srgbClr val="000000"/>
                </a:solidFill>
                <a:latin typeface="urw-din"/>
              </a:rPr>
              <a:t>Sequence type -  sequence is the ordered collection of </a:t>
            </a:r>
          </a:p>
          <a:p>
            <a:r>
              <a:rPr lang="en-US" dirty="0">
                <a:solidFill>
                  <a:srgbClr val="000000"/>
                </a:solidFill>
                <a:latin typeface="urw-din"/>
              </a:rPr>
              <a:t> </a:t>
            </a:r>
            <a:r>
              <a:rPr lang="en-US" dirty="0" smtClean="0">
                <a:solidFill>
                  <a:srgbClr val="000000"/>
                </a:solidFill>
                <a:latin typeface="urw-din"/>
              </a:rPr>
              <a:t>                                      similar or different data types</a:t>
            </a:r>
          </a:p>
          <a:p>
            <a:endParaRPr lang="en-US" dirty="0">
              <a:solidFill>
                <a:srgbClr val="000000"/>
              </a:solidFill>
              <a:latin typeface="urw-din"/>
            </a:endParaRPr>
          </a:p>
          <a:p>
            <a:pPr marL="285750" indent="-285750">
              <a:buFont typeface="Wingdings" panose="05000000000000000000" pitchFamily="2" charset="2"/>
              <a:buChar char="Ø"/>
            </a:pPr>
            <a:r>
              <a:rPr lang="en-US" dirty="0" smtClean="0">
                <a:solidFill>
                  <a:srgbClr val="000000"/>
                </a:solidFill>
                <a:latin typeface="urw-din"/>
              </a:rPr>
              <a:t>     </a:t>
            </a:r>
            <a:r>
              <a:rPr lang="en-US" dirty="0" smtClean="0">
                <a:solidFill>
                  <a:srgbClr val="00B050"/>
                </a:solidFill>
                <a:latin typeface="urw-din"/>
              </a:rPr>
              <a:t>String  =“</a:t>
            </a:r>
            <a:r>
              <a:rPr lang="en-US" dirty="0" err="1" smtClean="0">
                <a:solidFill>
                  <a:srgbClr val="00B050"/>
                </a:solidFill>
                <a:latin typeface="urw-din"/>
              </a:rPr>
              <a:t>a”,”b”,”c”,”d”,”e</a:t>
            </a:r>
            <a:r>
              <a:rPr lang="en-US" dirty="0" smtClean="0">
                <a:solidFill>
                  <a:srgbClr val="00B050"/>
                </a:solidFill>
                <a:latin typeface="urw-din"/>
              </a:rPr>
              <a:t>”</a:t>
            </a:r>
          </a:p>
          <a:p>
            <a:pPr marL="285750" indent="-285750">
              <a:buFont typeface="Wingdings" panose="05000000000000000000" pitchFamily="2" charset="2"/>
              <a:buChar char="Ø"/>
            </a:pPr>
            <a:r>
              <a:rPr lang="en-US" dirty="0" smtClean="0">
                <a:solidFill>
                  <a:srgbClr val="00B050"/>
                </a:solidFill>
                <a:latin typeface="urw-din"/>
              </a:rPr>
              <a:t>     List      =[</a:t>
            </a:r>
            <a:r>
              <a:rPr lang="en-US" dirty="0" err="1" smtClean="0">
                <a:solidFill>
                  <a:srgbClr val="00B050"/>
                </a:solidFill>
                <a:latin typeface="urw-din"/>
              </a:rPr>
              <a:t>a,b,c,d,e</a:t>
            </a:r>
            <a:r>
              <a:rPr lang="en-US" dirty="0" smtClean="0">
                <a:solidFill>
                  <a:srgbClr val="00B050"/>
                </a:solidFill>
                <a:latin typeface="urw-din"/>
              </a:rPr>
              <a:t>]</a:t>
            </a:r>
          </a:p>
          <a:p>
            <a:pPr marL="285750" indent="-285750">
              <a:buFont typeface="Wingdings" panose="05000000000000000000" pitchFamily="2" charset="2"/>
              <a:buChar char="Ø"/>
            </a:pPr>
            <a:r>
              <a:rPr lang="en-US" dirty="0" smtClean="0">
                <a:solidFill>
                  <a:srgbClr val="00B050"/>
                </a:solidFill>
                <a:latin typeface="urw-din"/>
              </a:rPr>
              <a:t>     Tuple   =(</a:t>
            </a:r>
            <a:r>
              <a:rPr lang="en-US" dirty="0" err="1" smtClean="0">
                <a:solidFill>
                  <a:srgbClr val="00B050"/>
                </a:solidFill>
                <a:latin typeface="urw-din"/>
              </a:rPr>
              <a:t>a,b,c,d,e</a:t>
            </a:r>
            <a:r>
              <a:rPr lang="en-US" dirty="0" smtClean="0">
                <a:solidFill>
                  <a:srgbClr val="00B050"/>
                </a:solidFill>
                <a:latin typeface="urw-din"/>
              </a:rPr>
              <a:t>,)</a:t>
            </a:r>
            <a:endParaRPr lang="en-US" dirty="0">
              <a:solidFill>
                <a:srgbClr val="00B050"/>
              </a:solidFill>
              <a:latin typeface="urw-din"/>
            </a:endParaRPr>
          </a:p>
          <a:p>
            <a:endParaRPr lang="en-IN" dirty="0">
              <a:latin typeface="urw-di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353" y="3397909"/>
            <a:ext cx="5316647" cy="3266310"/>
          </a:xfrm>
          <a:prstGeom prst="rect">
            <a:avLst/>
          </a:prstGeom>
        </p:spPr>
      </p:pic>
    </p:spTree>
    <p:extLst>
      <p:ext uri="{BB962C8B-B14F-4D97-AF65-F5344CB8AC3E}">
        <p14:creationId xmlns:p14="http://schemas.microsoft.com/office/powerpoint/2010/main" val="33058725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490" y="228346"/>
            <a:ext cx="11000509" cy="5770811"/>
          </a:xfrm>
          <a:prstGeom prst="rect">
            <a:avLst/>
          </a:prstGeom>
          <a:noFill/>
        </p:spPr>
        <p:txBody>
          <a:bodyPr wrap="square" rtlCol="0">
            <a:spAutoFit/>
          </a:bodyPr>
          <a:lstStyle/>
          <a:p>
            <a:pPr>
              <a:lnSpc>
                <a:spcPct val="150000"/>
              </a:lnSpc>
            </a:pPr>
            <a:r>
              <a:rPr lang="en-US" b="1" dirty="0" smtClean="0">
                <a:latin typeface="urw-din"/>
              </a:rPr>
              <a:t>TYPES OF OPERATOR</a:t>
            </a:r>
          </a:p>
          <a:p>
            <a:pPr>
              <a:lnSpc>
                <a:spcPct val="150000"/>
              </a:lnSpc>
            </a:pPr>
            <a:endParaRPr lang="en-US" dirty="0">
              <a:latin typeface="urw-din"/>
            </a:endParaRPr>
          </a:p>
          <a:p>
            <a:pPr marL="285750" indent="-285750">
              <a:lnSpc>
                <a:spcPct val="150000"/>
              </a:lnSpc>
              <a:buFont typeface="Arial" panose="020B0604020202020204" pitchFamily="34" charset="0"/>
              <a:buChar char="•"/>
            </a:pPr>
            <a:r>
              <a:rPr lang="en-US" dirty="0">
                <a:latin typeface="urw-din"/>
              </a:rPr>
              <a:t>Arithmetic Operators  </a:t>
            </a:r>
          </a:p>
          <a:p>
            <a:pPr marL="285750" indent="-285750">
              <a:lnSpc>
                <a:spcPct val="150000"/>
              </a:lnSpc>
              <a:buFont typeface="Arial" panose="020B0604020202020204" pitchFamily="34" charset="0"/>
              <a:buChar char="•"/>
            </a:pPr>
            <a:r>
              <a:rPr lang="en-US" dirty="0" smtClean="0">
                <a:latin typeface="urw-din"/>
              </a:rPr>
              <a:t>Comparison </a:t>
            </a:r>
            <a:r>
              <a:rPr lang="en-US" dirty="0">
                <a:latin typeface="urw-din"/>
              </a:rPr>
              <a:t>(Relational) Operators</a:t>
            </a:r>
          </a:p>
          <a:p>
            <a:pPr marL="285750" indent="-285750">
              <a:lnSpc>
                <a:spcPct val="150000"/>
              </a:lnSpc>
              <a:buFont typeface="Arial" panose="020B0604020202020204" pitchFamily="34" charset="0"/>
              <a:buChar char="•"/>
            </a:pPr>
            <a:r>
              <a:rPr lang="en-US" dirty="0" smtClean="0">
                <a:latin typeface="urw-din"/>
              </a:rPr>
              <a:t>Assignment </a:t>
            </a:r>
            <a:r>
              <a:rPr lang="en-US" dirty="0">
                <a:latin typeface="urw-din"/>
              </a:rPr>
              <a:t>Operators</a:t>
            </a:r>
          </a:p>
          <a:p>
            <a:pPr marL="285750" indent="-285750">
              <a:lnSpc>
                <a:spcPct val="150000"/>
              </a:lnSpc>
              <a:buFont typeface="Arial" panose="020B0604020202020204" pitchFamily="34" charset="0"/>
              <a:buChar char="•"/>
            </a:pPr>
            <a:r>
              <a:rPr lang="en-US" dirty="0" smtClean="0">
                <a:latin typeface="urw-din"/>
              </a:rPr>
              <a:t>Logical </a:t>
            </a:r>
            <a:r>
              <a:rPr lang="en-US" dirty="0">
                <a:latin typeface="urw-din"/>
              </a:rPr>
              <a:t>Operators</a:t>
            </a:r>
          </a:p>
          <a:p>
            <a:pPr marL="285750" indent="-285750">
              <a:lnSpc>
                <a:spcPct val="150000"/>
              </a:lnSpc>
              <a:buFont typeface="Arial" panose="020B0604020202020204" pitchFamily="34" charset="0"/>
              <a:buChar char="•"/>
            </a:pPr>
            <a:r>
              <a:rPr lang="en-US" dirty="0" smtClean="0">
                <a:latin typeface="urw-din"/>
              </a:rPr>
              <a:t>Bitwise </a:t>
            </a:r>
            <a:r>
              <a:rPr lang="en-US" dirty="0">
                <a:latin typeface="urw-din"/>
              </a:rPr>
              <a:t>Operators</a:t>
            </a:r>
          </a:p>
          <a:p>
            <a:pPr marL="285750" indent="-285750">
              <a:lnSpc>
                <a:spcPct val="150000"/>
              </a:lnSpc>
              <a:buFont typeface="Arial" panose="020B0604020202020204" pitchFamily="34" charset="0"/>
              <a:buChar char="•"/>
            </a:pPr>
            <a:r>
              <a:rPr lang="en-US" dirty="0" smtClean="0">
                <a:latin typeface="urw-din"/>
              </a:rPr>
              <a:t>Membership </a:t>
            </a:r>
            <a:r>
              <a:rPr lang="en-US" dirty="0" smtClean="0">
                <a:latin typeface="urw-din"/>
              </a:rPr>
              <a:t>Operators(</a:t>
            </a:r>
            <a:r>
              <a:rPr lang="en-US" dirty="0">
                <a:latin typeface="urw-din"/>
              </a:rPr>
              <a:t>in  ,not in </a:t>
            </a:r>
            <a:r>
              <a:rPr lang="en-US" dirty="0" smtClean="0">
                <a:latin typeface="urw-din"/>
              </a:rPr>
              <a:t>)</a:t>
            </a:r>
            <a:endParaRPr lang="en-US" dirty="0">
              <a:latin typeface="urw-din"/>
            </a:endParaRPr>
          </a:p>
          <a:p>
            <a:pPr marL="285750" indent="-285750">
              <a:lnSpc>
                <a:spcPct val="150000"/>
              </a:lnSpc>
              <a:buFont typeface="Arial" panose="020B0604020202020204" pitchFamily="34" charset="0"/>
              <a:buChar char="•"/>
            </a:pPr>
            <a:r>
              <a:rPr lang="en-US" dirty="0" smtClean="0">
                <a:latin typeface="urw-din"/>
              </a:rPr>
              <a:t>Identity </a:t>
            </a:r>
            <a:r>
              <a:rPr lang="en-US" dirty="0">
                <a:latin typeface="urw-din"/>
              </a:rPr>
              <a:t>Operators</a:t>
            </a:r>
          </a:p>
          <a:p>
            <a:pPr>
              <a:lnSpc>
                <a:spcPct val="150000"/>
              </a:lnSpc>
            </a:pPr>
            <a:r>
              <a:rPr lang="en-US" dirty="0">
                <a:latin typeface="urw-din"/>
              </a:rPr>
              <a:t>    </a:t>
            </a:r>
            <a:endParaRPr lang="en-US" b="1" dirty="0">
              <a:latin typeface="urw-din"/>
            </a:endParaRPr>
          </a:p>
          <a:p>
            <a:pPr>
              <a:lnSpc>
                <a:spcPct val="150000"/>
              </a:lnSpc>
            </a:pPr>
            <a:r>
              <a:rPr lang="en-IN" b="1" dirty="0">
                <a:latin typeface="urw-din"/>
              </a:rPr>
              <a:t>Python - Decision </a:t>
            </a:r>
            <a:r>
              <a:rPr lang="en-IN" b="1" dirty="0" smtClean="0">
                <a:latin typeface="urw-din"/>
              </a:rPr>
              <a:t>Making:</a:t>
            </a:r>
            <a:endParaRPr lang="en-IN" b="1" dirty="0">
              <a:latin typeface="urw-din"/>
            </a:endParaRPr>
          </a:p>
          <a:p>
            <a:pPr>
              <a:lnSpc>
                <a:spcPct val="150000"/>
              </a:lnSpc>
            </a:pPr>
            <a:r>
              <a:rPr lang="en-IN" dirty="0">
                <a:latin typeface="urw-din"/>
              </a:rPr>
              <a:t>            </a:t>
            </a:r>
            <a:r>
              <a:rPr lang="en-US" dirty="0">
                <a:latin typeface="urw-din"/>
              </a:rPr>
              <a:t>Decision making is anticipation of conditions occurring while execution of the program </a:t>
            </a:r>
          </a:p>
          <a:p>
            <a:pPr>
              <a:lnSpc>
                <a:spcPct val="150000"/>
              </a:lnSpc>
            </a:pPr>
            <a:r>
              <a:rPr lang="en-US" dirty="0">
                <a:latin typeface="urw-din"/>
              </a:rPr>
              <a:t>and specifying actions taken according to the conditions. TRUE or FALSE as outcome. </a:t>
            </a:r>
            <a:endParaRPr lang="en-IN" dirty="0">
              <a:latin typeface="urw-din"/>
            </a:endParaRPr>
          </a:p>
          <a:p>
            <a:endParaRPr lang="en-IN" dirty="0">
              <a:latin typeface="urw-din"/>
            </a:endParaRPr>
          </a:p>
        </p:txBody>
      </p:sp>
    </p:spTree>
    <p:extLst>
      <p:ext uri="{BB962C8B-B14F-4D97-AF65-F5344CB8AC3E}">
        <p14:creationId xmlns:p14="http://schemas.microsoft.com/office/powerpoint/2010/main" val="19147533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236" y="204653"/>
            <a:ext cx="11693237" cy="6740307"/>
          </a:xfrm>
          <a:prstGeom prst="rect">
            <a:avLst/>
          </a:prstGeom>
          <a:noFill/>
        </p:spPr>
        <p:txBody>
          <a:bodyPr wrap="square" rtlCol="0">
            <a:spAutoFit/>
          </a:bodyPr>
          <a:lstStyle/>
          <a:p>
            <a:r>
              <a:rPr lang="en-IN" b="1" dirty="0" smtClean="0">
                <a:solidFill>
                  <a:srgbClr val="000000"/>
                </a:solidFill>
                <a:latin typeface="urw-din"/>
              </a:rPr>
              <a:t>STATEMENT:</a:t>
            </a:r>
            <a:endParaRPr lang="en-IN" b="1" dirty="0">
              <a:solidFill>
                <a:srgbClr val="000000"/>
              </a:solidFill>
              <a:latin typeface="urw-din"/>
            </a:endParaRPr>
          </a:p>
          <a:p>
            <a:pPr marL="285750" indent="-285750">
              <a:buFont typeface="Arial" panose="020B0604020202020204" pitchFamily="34" charset="0"/>
              <a:buChar char="•"/>
            </a:pPr>
            <a:r>
              <a:rPr lang="en-IN" dirty="0">
                <a:solidFill>
                  <a:srgbClr val="000000"/>
                </a:solidFill>
                <a:latin typeface="urw-din"/>
              </a:rPr>
              <a:t>if </a:t>
            </a:r>
            <a:r>
              <a:rPr lang="en-IN" dirty="0" smtClean="0">
                <a:solidFill>
                  <a:srgbClr val="000000"/>
                </a:solidFill>
                <a:latin typeface="urw-din"/>
              </a:rPr>
              <a:t>statement             If </a:t>
            </a:r>
            <a:r>
              <a:rPr lang="en-IN" dirty="0">
                <a:solidFill>
                  <a:srgbClr val="000000"/>
                </a:solidFill>
                <a:latin typeface="urw-din"/>
              </a:rPr>
              <a:t>else </a:t>
            </a:r>
            <a:r>
              <a:rPr lang="en-IN" dirty="0" smtClean="0">
                <a:solidFill>
                  <a:srgbClr val="000000"/>
                </a:solidFill>
                <a:latin typeface="urw-din"/>
              </a:rPr>
              <a:t>statement                If </a:t>
            </a:r>
            <a:r>
              <a:rPr lang="en-IN" dirty="0">
                <a:solidFill>
                  <a:srgbClr val="000000"/>
                </a:solidFill>
                <a:latin typeface="urw-din"/>
              </a:rPr>
              <a:t>– else if - else  </a:t>
            </a:r>
            <a:r>
              <a:rPr lang="en-IN" dirty="0" smtClean="0">
                <a:solidFill>
                  <a:srgbClr val="000000"/>
                </a:solidFill>
                <a:latin typeface="urw-din"/>
              </a:rPr>
              <a:t>statement</a:t>
            </a:r>
          </a:p>
          <a:p>
            <a:endParaRPr lang="en-IN" dirty="0">
              <a:solidFill>
                <a:srgbClr val="000000"/>
              </a:solidFill>
              <a:latin typeface="urw-din"/>
            </a:endParaRPr>
          </a:p>
          <a:p>
            <a:r>
              <a:rPr lang="en-IN" b="1" dirty="0" smtClean="0">
                <a:solidFill>
                  <a:srgbClr val="000000"/>
                </a:solidFill>
                <a:latin typeface="urw-din"/>
              </a:rPr>
              <a:t>LOOPS</a:t>
            </a:r>
            <a:r>
              <a:rPr lang="en-IN" b="1" dirty="0" smtClean="0">
                <a:solidFill>
                  <a:srgbClr val="000000"/>
                </a:solidFill>
                <a:latin typeface="urw-din"/>
              </a:rPr>
              <a:t>:</a:t>
            </a:r>
            <a:endParaRPr lang="en-IN" b="1" dirty="0">
              <a:solidFill>
                <a:srgbClr val="000000"/>
              </a:solidFill>
              <a:latin typeface="urw-din"/>
            </a:endParaRPr>
          </a:p>
          <a:p>
            <a:pPr marL="342900" indent="-342900">
              <a:buFont typeface="Arial" panose="020B0604020202020204" pitchFamily="34" charset="0"/>
              <a:buChar char="•"/>
            </a:pPr>
            <a:r>
              <a:rPr lang="en-IN" b="1" dirty="0">
                <a:solidFill>
                  <a:srgbClr val="000000"/>
                </a:solidFill>
                <a:latin typeface="urw-din"/>
              </a:rPr>
              <a:t>While loop</a:t>
            </a:r>
          </a:p>
          <a:p>
            <a:r>
              <a:rPr lang="en-US" dirty="0">
                <a:latin typeface="urw-din"/>
              </a:rPr>
              <a:t>Repeats a statement or group of statements while a given condition is TRUE. It tests the condition before executing the loop body.</a:t>
            </a:r>
          </a:p>
          <a:p>
            <a:pPr marL="285750" indent="-285750">
              <a:buFont typeface="Arial" panose="020B0604020202020204" pitchFamily="34" charset="0"/>
              <a:buChar char="•"/>
            </a:pPr>
            <a:r>
              <a:rPr lang="en-US" b="1" dirty="0">
                <a:latin typeface="urw-din"/>
              </a:rPr>
              <a:t>For loop</a:t>
            </a:r>
          </a:p>
          <a:p>
            <a:r>
              <a:rPr lang="en-US" dirty="0">
                <a:latin typeface="urw-din"/>
              </a:rPr>
              <a:t>Executes a sequence of statements multiple times and abbreviates the code that manages the loop variable.</a:t>
            </a:r>
          </a:p>
          <a:p>
            <a:pPr marL="285750" indent="-285750">
              <a:buFont typeface="Arial" panose="020B0604020202020204" pitchFamily="34" charset="0"/>
              <a:buChar char="•"/>
            </a:pPr>
            <a:r>
              <a:rPr lang="en-US" b="1" dirty="0">
                <a:latin typeface="urw-din"/>
              </a:rPr>
              <a:t>Nested loop</a:t>
            </a:r>
          </a:p>
          <a:p>
            <a:r>
              <a:rPr lang="en-US" dirty="0">
                <a:latin typeface="urw-din"/>
              </a:rPr>
              <a:t>You can use one or more loop inside many another while, for or do while </a:t>
            </a:r>
            <a:r>
              <a:rPr lang="en-US" dirty="0" smtClean="0">
                <a:latin typeface="urw-din"/>
              </a:rPr>
              <a:t>loop</a:t>
            </a:r>
          </a:p>
          <a:p>
            <a:endParaRPr lang="en-US" dirty="0">
              <a:latin typeface="urw-din"/>
            </a:endParaRPr>
          </a:p>
          <a:p>
            <a:r>
              <a:rPr lang="en-US" b="1" dirty="0">
                <a:latin typeface="urw-din"/>
              </a:rPr>
              <a:t>LOOP CONTROL STATEMENT </a:t>
            </a:r>
            <a:r>
              <a:rPr lang="en-US" b="1" dirty="0" smtClean="0">
                <a:latin typeface="urw-din"/>
              </a:rPr>
              <a:t>:</a:t>
            </a:r>
            <a:endParaRPr lang="en-US" b="1" dirty="0">
              <a:latin typeface="urw-din"/>
            </a:endParaRPr>
          </a:p>
          <a:p>
            <a:pPr marL="285750" indent="-285750">
              <a:buFont typeface="Arial" panose="020B0604020202020204" pitchFamily="34" charset="0"/>
              <a:buChar char="•"/>
            </a:pPr>
            <a:r>
              <a:rPr lang="en-US" b="1" dirty="0">
                <a:latin typeface="urw-din"/>
              </a:rPr>
              <a:t>Break statement</a:t>
            </a:r>
          </a:p>
          <a:p>
            <a:r>
              <a:rPr lang="en-US" dirty="0">
                <a:latin typeface="urw-din"/>
              </a:rPr>
              <a:t>Terminates the loop statement and transfers execution to the statement immediately following the loop.</a:t>
            </a:r>
          </a:p>
          <a:p>
            <a:pPr marL="285750" indent="-285750">
              <a:buFont typeface="Arial" panose="020B0604020202020204" pitchFamily="34" charset="0"/>
              <a:buChar char="•"/>
            </a:pPr>
            <a:r>
              <a:rPr lang="en-US" b="1" dirty="0">
                <a:latin typeface="urw-din"/>
              </a:rPr>
              <a:t>Continue statement</a:t>
            </a:r>
          </a:p>
          <a:p>
            <a:r>
              <a:rPr lang="en-US" dirty="0">
                <a:latin typeface="urw-din"/>
              </a:rPr>
              <a:t>Causes the loop to skip the remainder of its body and immediately retest its condition prior to reiterating.</a:t>
            </a:r>
          </a:p>
          <a:p>
            <a:pPr marL="285750" indent="-285750">
              <a:buFont typeface="Arial" panose="020B0604020202020204" pitchFamily="34" charset="0"/>
              <a:buChar char="•"/>
            </a:pPr>
            <a:r>
              <a:rPr lang="en-US" dirty="0">
                <a:latin typeface="urw-din"/>
              </a:rPr>
              <a:t> </a:t>
            </a:r>
            <a:r>
              <a:rPr lang="en-US" b="1" dirty="0">
                <a:latin typeface="urw-din"/>
              </a:rPr>
              <a:t>Pass statement</a:t>
            </a:r>
          </a:p>
          <a:p>
            <a:r>
              <a:rPr lang="en-US" dirty="0">
                <a:latin typeface="urw-din"/>
              </a:rPr>
              <a:t>The pass statement in Python is used when a statement is required syntactically but you do not want any command or code to execute</a:t>
            </a:r>
            <a:r>
              <a:rPr lang="en-US" dirty="0" smtClean="0">
                <a:latin typeface="urw-din"/>
              </a:rPr>
              <a:t>.</a:t>
            </a:r>
          </a:p>
          <a:p>
            <a:r>
              <a:rPr lang="en-US" b="1" dirty="0">
                <a:latin typeface="urw-din"/>
              </a:rPr>
              <a:t>Function:</a:t>
            </a:r>
          </a:p>
          <a:p>
            <a:r>
              <a:rPr lang="en-US" dirty="0">
                <a:latin typeface="urw-din"/>
              </a:rPr>
              <a:t>         A function is a block of code which only runs when it is called. you can pass data, known as parameters, into a function. A function can return data as a result.</a:t>
            </a:r>
          </a:p>
          <a:p>
            <a:endParaRPr lang="en-US" dirty="0">
              <a:latin typeface="urw-din"/>
            </a:endParaRPr>
          </a:p>
        </p:txBody>
      </p:sp>
    </p:spTree>
    <p:extLst>
      <p:ext uri="{BB962C8B-B14F-4D97-AF65-F5344CB8AC3E}">
        <p14:creationId xmlns:p14="http://schemas.microsoft.com/office/powerpoint/2010/main" val="4022506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8"/>
          <p:cNvSpPr>
            <a:spLocks noChangeArrowheads="1"/>
          </p:cNvSpPr>
          <p:nvPr/>
        </p:nvSpPr>
        <p:spPr bwMode="auto">
          <a:xfrm>
            <a:off x="631065" y="358884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TextBox 13"/>
          <p:cNvSpPr txBox="1"/>
          <p:nvPr/>
        </p:nvSpPr>
        <p:spPr>
          <a:xfrm>
            <a:off x="166255" y="152402"/>
            <a:ext cx="11637817" cy="6740307"/>
          </a:xfrm>
          <a:prstGeom prst="rect">
            <a:avLst/>
          </a:prstGeom>
          <a:noFill/>
        </p:spPr>
        <p:txBody>
          <a:bodyPr wrap="square" rtlCol="0">
            <a:spAutoFit/>
          </a:bodyPr>
          <a:lstStyle/>
          <a:p>
            <a:r>
              <a:rPr lang="en-US" b="1" dirty="0" smtClean="0">
                <a:latin typeface="urw-din"/>
              </a:rPr>
              <a:t>Lambda:</a:t>
            </a:r>
          </a:p>
          <a:p>
            <a:r>
              <a:rPr lang="en-US" dirty="0" smtClean="0">
                <a:latin typeface="urw-din"/>
              </a:rPr>
              <a:t>  A </a:t>
            </a:r>
            <a:r>
              <a:rPr lang="en-US" dirty="0">
                <a:latin typeface="urw-din"/>
              </a:rPr>
              <a:t>lambda function is a small  function.</a:t>
            </a:r>
          </a:p>
          <a:p>
            <a:r>
              <a:rPr lang="en-US" dirty="0" smtClean="0">
                <a:latin typeface="urw-din"/>
              </a:rPr>
              <a:t>  A </a:t>
            </a:r>
            <a:r>
              <a:rPr lang="en-US" dirty="0">
                <a:latin typeface="urw-din"/>
              </a:rPr>
              <a:t>lambda function can take any number of arguments, but can only have one expression</a:t>
            </a:r>
            <a:r>
              <a:rPr lang="en-US" dirty="0" smtClean="0">
                <a:latin typeface="urw-din"/>
              </a:rPr>
              <a:t>.</a:t>
            </a:r>
          </a:p>
          <a:p>
            <a:r>
              <a:rPr lang="en-US" dirty="0" smtClean="0">
                <a:latin typeface="urw-din"/>
              </a:rPr>
              <a:t>   filter, map ,reduce are used in lambda </a:t>
            </a:r>
            <a:r>
              <a:rPr lang="en-US" dirty="0" smtClean="0">
                <a:latin typeface="urw-din"/>
              </a:rPr>
              <a:t>function</a:t>
            </a:r>
          </a:p>
          <a:p>
            <a:endParaRPr lang="en-US" dirty="0">
              <a:latin typeface="urw-din"/>
            </a:endParaRPr>
          </a:p>
          <a:p>
            <a:r>
              <a:rPr lang="en-US" b="1" dirty="0" smtClean="0">
                <a:latin typeface="urw-din"/>
              </a:rPr>
              <a:t>Class:</a:t>
            </a:r>
            <a:endParaRPr lang="en-US" b="1" dirty="0">
              <a:latin typeface="urw-din"/>
            </a:endParaRPr>
          </a:p>
          <a:p>
            <a:pPr marL="285750" lvl="0" indent="-285750" eaLnBrk="0" fontAlgn="base" hangingPunct="0">
              <a:spcBef>
                <a:spcPct val="0"/>
              </a:spcBef>
              <a:spcAft>
                <a:spcPct val="0"/>
              </a:spcAft>
              <a:buFont typeface="Arial" panose="020B0604020202020204" pitchFamily="34" charset="0"/>
              <a:buChar char="•"/>
            </a:pPr>
            <a:r>
              <a:rPr lang="en-US" dirty="0">
                <a:latin typeface="urw-din"/>
              </a:rPr>
              <a:t>__</a:t>
            </a:r>
            <a:r>
              <a:rPr lang="en-US" dirty="0" err="1">
                <a:latin typeface="urw-din"/>
              </a:rPr>
              <a:t>Init</a:t>
            </a:r>
            <a:r>
              <a:rPr lang="en-US" dirty="0">
                <a:latin typeface="urw-din"/>
              </a:rPr>
              <a:t>__ :All classes have a function called __</a:t>
            </a:r>
            <a:r>
              <a:rPr lang="en-US" dirty="0" err="1">
                <a:latin typeface="urw-din"/>
              </a:rPr>
              <a:t>init</a:t>
            </a:r>
            <a:r>
              <a:rPr lang="en-US" dirty="0">
                <a:latin typeface="urw-din"/>
              </a:rPr>
              <a:t>__(), which is always executed when the class is being initiated</a:t>
            </a:r>
            <a:r>
              <a:rPr lang="en-US" dirty="0" smtClean="0">
                <a:latin typeface="urw-din"/>
              </a:rPr>
              <a:t>.</a:t>
            </a:r>
          </a:p>
          <a:p>
            <a:pPr marL="285750" lvl="0" indent="-285750" eaLnBrk="0" fontAlgn="base" hangingPunct="0">
              <a:spcBef>
                <a:spcPct val="0"/>
              </a:spcBef>
              <a:spcAft>
                <a:spcPct val="0"/>
              </a:spcAft>
              <a:buFont typeface="Arial" panose="020B0604020202020204" pitchFamily="34" charset="0"/>
              <a:buChar char="•"/>
            </a:pPr>
            <a:r>
              <a:rPr lang="en-US" dirty="0" smtClean="0">
                <a:latin typeface="urw-din"/>
              </a:rPr>
              <a:t>(</a:t>
            </a:r>
            <a:r>
              <a:rPr lang="en-US" dirty="0">
                <a:latin typeface="urw-din"/>
              </a:rPr>
              <a:t>self</a:t>
            </a:r>
            <a:r>
              <a:rPr lang="en-US" dirty="0" smtClean="0">
                <a:latin typeface="urw-din"/>
              </a:rPr>
              <a:t>): </a:t>
            </a:r>
            <a:r>
              <a:rPr lang="en-US" dirty="0" smtClean="0">
                <a:solidFill>
                  <a:srgbClr val="000000"/>
                </a:solidFill>
                <a:latin typeface="urw-din"/>
              </a:rPr>
              <a:t>The</a:t>
            </a:r>
            <a:r>
              <a:rPr lang="en-US" dirty="0">
                <a:solidFill>
                  <a:srgbClr val="000000"/>
                </a:solidFill>
                <a:latin typeface="urw-din"/>
              </a:rPr>
              <a:t> </a:t>
            </a:r>
            <a:r>
              <a:rPr lang="en-US" dirty="0">
                <a:solidFill>
                  <a:srgbClr val="DC143C"/>
                </a:solidFill>
                <a:latin typeface="urw-din"/>
              </a:rPr>
              <a:t>self</a:t>
            </a:r>
            <a:r>
              <a:rPr lang="en-US" dirty="0">
                <a:solidFill>
                  <a:srgbClr val="000000"/>
                </a:solidFill>
                <a:latin typeface="urw-din"/>
              </a:rPr>
              <a:t> parameter is a reference to the current instance of the class, and is used to access variables that belongs to the class</a:t>
            </a:r>
            <a:r>
              <a:rPr lang="en-US" dirty="0" smtClean="0">
                <a:solidFill>
                  <a:srgbClr val="000000"/>
                </a:solidFill>
                <a:latin typeface="urw-din"/>
              </a:rPr>
              <a:t>. It </a:t>
            </a:r>
            <a:r>
              <a:rPr lang="en-US" dirty="0">
                <a:solidFill>
                  <a:srgbClr val="000000"/>
                </a:solidFill>
                <a:latin typeface="urw-din"/>
              </a:rPr>
              <a:t>does not have to be named </a:t>
            </a:r>
            <a:r>
              <a:rPr lang="en-US" dirty="0">
                <a:solidFill>
                  <a:srgbClr val="DC143C"/>
                </a:solidFill>
                <a:latin typeface="urw-din"/>
              </a:rPr>
              <a:t>self</a:t>
            </a:r>
            <a:r>
              <a:rPr lang="en-US" dirty="0">
                <a:solidFill>
                  <a:srgbClr val="000000"/>
                </a:solidFill>
                <a:latin typeface="urw-din"/>
              </a:rPr>
              <a:t> , you can call it whatever you like, but it has to be the first parameter of any function in the class:</a:t>
            </a:r>
          </a:p>
          <a:p>
            <a:pPr marL="285750" indent="-285750" eaLnBrk="0" fontAlgn="base" hangingPunct="0">
              <a:spcBef>
                <a:spcPct val="0"/>
              </a:spcBef>
              <a:spcAft>
                <a:spcPct val="0"/>
              </a:spcAft>
              <a:buFont typeface="Arial" panose="020B0604020202020204" pitchFamily="34" charset="0"/>
              <a:buChar char="•"/>
            </a:pPr>
            <a:r>
              <a:rPr lang="en-US" dirty="0" smtClean="0">
                <a:solidFill>
                  <a:srgbClr val="000000"/>
                </a:solidFill>
                <a:latin typeface="urw-din"/>
              </a:rPr>
              <a:t>Pass:  </a:t>
            </a:r>
            <a:r>
              <a:rPr lang="en-US" dirty="0">
                <a:solidFill>
                  <a:srgbClr val="000000"/>
                </a:solidFill>
                <a:latin typeface="urw-din"/>
              </a:rPr>
              <a:t>put in the </a:t>
            </a:r>
            <a:r>
              <a:rPr lang="en-US" dirty="0">
                <a:solidFill>
                  <a:srgbClr val="DC143C"/>
                </a:solidFill>
                <a:latin typeface="urw-din"/>
              </a:rPr>
              <a:t>pass</a:t>
            </a:r>
            <a:r>
              <a:rPr lang="en-US" dirty="0">
                <a:solidFill>
                  <a:srgbClr val="000000"/>
                </a:solidFill>
                <a:latin typeface="urw-din"/>
              </a:rPr>
              <a:t> statement to avoid getting an </a:t>
            </a:r>
            <a:r>
              <a:rPr lang="en-US" dirty="0" smtClean="0">
                <a:solidFill>
                  <a:srgbClr val="000000"/>
                </a:solidFill>
                <a:latin typeface="urw-din"/>
              </a:rPr>
              <a:t>error</a:t>
            </a:r>
            <a:r>
              <a:rPr lang="en-US" dirty="0" smtClean="0">
                <a:solidFill>
                  <a:srgbClr val="000000"/>
                </a:solidFill>
                <a:latin typeface="urw-din"/>
              </a:rPr>
              <a:t>.</a:t>
            </a:r>
          </a:p>
          <a:p>
            <a:pPr eaLnBrk="0" fontAlgn="base" hangingPunct="0">
              <a:spcBef>
                <a:spcPct val="0"/>
              </a:spcBef>
              <a:spcAft>
                <a:spcPct val="0"/>
              </a:spcAft>
            </a:pPr>
            <a:endParaRPr lang="en-US" dirty="0" smtClean="0">
              <a:solidFill>
                <a:srgbClr val="000000"/>
              </a:solidFill>
              <a:latin typeface="urw-din"/>
            </a:endParaRPr>
          </a:p>
          <a:p>
            <a:pPr lvl="0" eaLnBrk="0" fontAlgn="base" hangingPunct="0">
              <a:spcBef>
                <a:spcPct val="0"/>
              </a:spcBef>
              <a:spcAft>
                <a:spcPct val="0"/>
              </a:spcAft>
            </a:pPr>
            <a:r>
              <a:rPr lang="en-US" b="1" dirty="0" err="1" smtClean="0">
                <a:solidFill>
                  <a:srgbClr val="000000"/>
                </a:solidFill>
                <a:latin typeface="urw-din"/>
              </a:rPr>
              <a:t>Iter</a:t>
            </a:r>
            <a:r>
              <a:rPr lang="en-US" b="1" dirty="0" smtClean="0">
                <a:solidFill>
                  <a:srgbClr val="000000"/>
                </a:solidFill>
                <a:latin typeface="urw-din"/>
              </a:rPr>
              <a:t>:</a:t>
            </a:r>
          </a:p>
          <a:p>
            <a:pPr marL="285750" lvl="0" indent="-285750" eaLnBrk="0" fontAlgn="base" hangingPunct="0">
              <a:spcBef>
                <a:spcPct val="0"/>
              </a:spcBef>
              <a:spcAft>
                <a:spcPct val="0"/>
              </a:spcAft>
              <a:buFont typeface="Arial" panose="020B0604020202020204" pitchFamily="34" charset="0"/>
              <a:buChar char="•"/>
            </a:pPr>
            <a:r>
              <a:rPr lang="en-US" dirty="0" smtClean="0">
                <a:solidFill>
                  <a:srgbClr val="000000"/>
                </a:solidFill>
                <a:latin typeface="urw-din"/>
              </a:rPr>
              <a:t>An iterator is an object that contains a countable number of values.</a:t>
            </a:r>
            <a:endParaRPr lang="en-US" dirty="0" smtClean="0">
              <a:latin typeface="urw-din"/>
            </a:endParaRPr>
          </a:p>
          <a:p>
            <a:pPr marL="285750" lvl="0" indent="-285750" eaLnBrk="0" fontAlgn="base" hangingPunct="0">
              <a:spcBef>
                <a:spcPct val="0"/>
              </a:spcBef>
              <a:spcAft>
                <a:spcPct val="0"/>
              </a:spcAft>
              <a:buFont typeface="Arial" panose="020B0604020202020204" pitchFamily="34" charset="0"/>
              <a:buChar char="•"/>
            </a:pPr>
            <a:r>
              <a:rPr lang="en-US" dirty="0" smtClean="0">
                <a:solidFill>
                  <a:srgbClr val="000000"/>
                </a:solidFill>
                <a:latin typeface="urw-din"/>
              </a:rPr>
              <a:t>Technically, in Python, an iterator is an object which implements the iterator protocol, which consist of the methods </a:t>
            </a:r>
            <a:r>
              <a:rPr lang="en-US" dirty="0" smtClean="0">
                <a:solidFill>
                  <a:srgbClr val="DC143C"/>
                </a:solidFill>
                <a:latin typeface="urw-din"/>
              </a:rPr>
              <a:t>__</a:t>
            </a:r>
            <a:r>
              <a:rPr lang="en-US" dirty="0" err="1" smtClean="0">
                <a:solidFill>
                  <a:srgbClr val="DC143C"/>
                </a:solidFill>
                <a:latin typeface="urw-din"/>
              </a:rPr>
              <a:t>iter</a:t>
            </a:r>
            <a:r>
              <a:rPr lang="en-US" dirty="0" smtClean="0">
                <a:solidFill>
                  <a:srgbClr val="DC143C"/>
                </a:solidFill>
                <a:latin typeface="urw-din"/>
              </a:rPr>
              <a:t>__()</a:t>
            </a:r>
            <a:r>
              <a:rPr lang="en-US" dirty="0" smtClean="0">
                <a:solidFill>
                  <a:srgbClr val="000000"/>
                </a:solidFill>
                <a:latin typeface="urw-din"/>
              </a:rPr>
              <a:t> and </a:t>
            </a:r>
            <a:r>
              <a:rPr lang="en-US" dirty="0" smtClean="0">
                <a:solidFill>
                  <a:srgbClr val="DC143C"/>
                </a:solidFill>
                <a:latin typeface="urw-din"/>
              </a:rPr>
              <a:t>__next__()</a:t>
            </a:r>
            <a:r>
              <a:rPr lang="en-US" dirty="0" smtClean="0">
                <a:solidFill>
                  <a:srgbClr val="000000"/>
                </a:solidFill>
                <a:latin typeface="urw-din"/>
              </a:rPr>
              <a:t>.</a:t>
            </a:r>
          </a:p>
          <a:p>
            <a:pPr marL="285750" indent="-285750" eaLnBrk="0" fontAlgn="base" hangingPunct="0">
              <a:spcBef>
                <a:spcPct val="0"/>
              </a:spcBef>
              <a:spcAft>
                <a:spcPct val="0"/>
              </a:spcAft>
              <a:buFont typeface="Arial" panose="020B0604020202020204" pitchFamily="34" charset="0"/>
              <a:buChar char="•"/>
            </a:pPr>
            <a:r>
              <a:rPr lang="en-US" dirty="0" smtClean="0">
                <a:solidFill>
                  <a:srgbClr val="000000"/>
                </a:solidFill>
                <a:latin typeface="urw-din"/>
              </a:rPr>
              <a:t>To prevent the iteration to go on forever, we can use the </a:t>
            </a:r>
            <a:r>
              <a:rPr lang="en-US" dirty="0" err="1" smtClean="0">
                <a:solidFill>
                  <a:srgbClr val="DC143C"/>
                </a:solidFill>
                <a:latin typeface="urw-din"/>
              </a:rPr>
              <a:t>StopIteration</a:t>
            </a:r>
            <a:r>
              <a:rPr lang="en-US" dirty="0" smtClean="0">
                <a:solidFill>
                  <a:srgbClr val="000000"/>
                </a:solidFill>
                <a:latin typeface="urw-din"/>
              </a:rPr>
              <a:t> statement.</a:t>
            </a:r>
            <a:r>
              <a:rPr lang="en-US" dirty="0" smtClean="0">
                <a:latin typeface="urw-din"/>
              </a:rPr>
              <a:t> </a:t>
            </a:r>
            <a:endParaRPr lang="en-US" dirty="0" smtClean="0">
              <a:latin typeface="urw-din"/>
            </a:endParaRPr>
          </a:p>
          <a:p>
            <a:pPr marL="285750" indent="-285750" eaLnBrk="0" fontAlgn="base" hangingPunct="0">
              <a:spcBef>
                <a:spcPct val="0"/>
              </a:spcBef>
              <a:spcAft>
                <a:spcPct val="0"/>
              </a:spcAft>
              <a:buFont typeface="Arial" panose="020B0604020202020204" pitchFamily="34" charset="0"/>
              <a:buChar char="•"/>
            </a:pPr>
            <a:endParaRPr lang="en-US" dirty="0" smtClean="0">
              <a:latin typeface="urw-din"/>
            </a:endParaRPr>
          </a:p>
          <a:p>
            <a:pPr eaLnBrk="0" fontAlgn="base" hangingPunct="0">
              <a:spcBef>
                <a:spcPct val="0"/>
              </a:spcBef>
              <a:spcAft>
                <a:spcPct val="0"/>
              </a:spcAft>
            </a:pPr>
            <a:r>
              <a:rPr lang="en-US" b="1" dirty="0" smtClean="0">
                <a:latin typeface="urw-din"/>
              </a:rPr>
              <a:t>SCOPE:</a:t>
            </a:r>
            <a:endParaRPr lang="en-US" b="1" dirty="0">
              <a:latin typeface="urw-din"/>
            </a:endParaRPr>
          </a:p>
          <a:p>
            <a:pPr marL="285750" indent="-285750">
              <a:buFont typeface="Arial" panose="020B0604020202020204" pitchFamily="34" charset="0"/>
              <a:buChar char="•"/>
            </a:pPr>
            <a:r>
              <a:rPr lang="en-US" b="1" dirty="0" smtClean="0">
                <a:latin typeface="urw-din"/>
              </a:rPr>
              <a:t>Local scope:  </a:t>
            </a:r>
            <a:r>
              <a:rPr lang="en-US" dirty="0" smtClean="0">
                <a:latin typeface="urw-din"/>
              </a:rPr>
              <a:t>A variable </a:t>
            </a:r>
            <a:r>
              <a:rPr lang="en-US" dirty="0">
                <a:latin typeface="urw-din"/>
              </a:rPr>
              <a:t>created inside a function belongs to the </a:t>
            </a:r>
            <a:r>
              <a:rPr lang="en-US" i="1" dirty="0">
                <a:latin typeface="urw-din"/>
              </a:rPr>
              <a:t>local scope</a:t>
            </a:r>
            <a:r>
              <a:rPr lang="en-US" dirty="0">
                <a:latin typeface="urw-din"/>
              </a:rPr>
              <a:t> of that function, and can only be used inside that function. </a:t>
            </a:r>
            <a:endParaRPr lang="en-US" dirty="0" smtClean="0">
              <a:latin typeface="urw-din"/>
            </a:endParaRPr>
          </a:p>
          <a:p>
            <a:pPr marL="285750" indent="-285750">
              <a:buFont typeface="Arial" panose="020B0604020202020204" pitchFamily="34" charset="0"/>
              <a:buChar char="•"/>
            </a:pPr>
            <a:r>
              <a:rPr lang="en-US" b="1" dirty="0" smtClean="0">
                <a:latin typeface="urw-din"/>
              </a:rPr>
              <a:t>Global Scope:</a:t>
            </a:r>
            <a:r>
              <a:rPr lang="en-US" dirty="0" smtClean="0">
                <a:latin typeface="urw-din"/>
              </a:rPr>
              <a:t> A </a:t>
            </a:r>
            <a:r>
              <a:rPr lang="en-US" dirty="0">
                <a:latin typeface="urw-din"/>
              </a:rPr>
              <a:t>variable created in the main body of the Python code is a global variable and belongs to the global </a:t>
            </a:r>
            <a:r>
              <a:rPr lang="en-US" dirty="0" smtClean="0">
                <a:latin typeface="urw-din"/>
              </a:rPr>
              <a:t>scope. Global </a:t>
            </a:r>
            <a:r>
              <a:rPr lang="en-US" dirty="0">
                <a:latin typeface="urw-din"/>
              </a:rPr>
              <a:t>variables are available from within any scope, global and local</a:t>
            </a:r>
            <a:r>
              <a:rPr lang="en-US" dirty="0" smtClean="0">
                <a:latin typeface="urw-din"/>
              </a:rPr>
              <a:t>.</a:t>
            </a:r>
            <a:endParaRPr lang="en-US" dirty="0">
              <a:latin typeface="urw-din"/>
            </a:endParaRPr>
          </a:p>
        </p:txBody>
      </p:sp>
    </p:spTree>
    <p:extLst>
      <p:ext uri="{BB962C8B-B14F-4D97-AF65-F5344CB8AC3E}">
        <p14:creationId xmlns:p14="http://schemas.microsoft.com/office/powerpoint/2010/main" val="1756831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5"/>
          <p:cNvSpPr>
            <a:spLocks noChangeArrowheads="1"/>
          </p:cNvSpPr>
          <p:nvPr/>
        </p:nvSpPr>
        <p:spPr bwMode="auto">
          <a:xfrm>
            <a:off x="184731" y="78125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6"/>
          <p:cNvSpPr>
            <a:spLocks noChangeArrowheads="1"/>
          </p:cNvSpPr>
          <p:nvPr/>
        </p:nvSpPr>
        <p:spPr bwMode="auto">
          <a:xfrm>
            <a:off x="184731" y="858523"/>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7"/>
          <p:cNvSpPr>
            <a:spLocks noChangeArrowheads="1"/>
          </p:cNvSpPr>
          <p:nvPr/>
        </p:nvSpPr>
        <p:spPr bwMode="auto">
          <a:xfrm>
            <a:off x="0" y="-90981"/>
            <a:ext cx="0" cy="6391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2830" tIns="179331" rIns="-14283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9"/>
          <p:cNvSpPr>
            <a:spLocks noChangeArrowheads="1"/>
          </p:cNvSpPr>
          <p:nvPr/>
        </p:nvSpPr>
        <p:spPr bwMode="auto">
          <a:xfrm>
            <a:off x="0" y="473435"/>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8" name="Rectangle 1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12"/>
          <p:cNvSpPr>
            <a:spLocks noChangeArrowheads="1"/>
          </p:cNvSpPr>
          <p:nvPr/>
        </p:nvSpPr>
        <p:spPr bwMode="auto">
          <a:xfrm>
            <a:off x="0" y="360"/>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13"/>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15"/>
          <p:cNvSpPr>
            <a:spLocks noChangeArrowheads="1"/>
          </p:cNvSpPr>
          <p:nvPr/>
        </p:nvSpPr>
        <p:spPr bwMode="auto">
          <a:xfrm>
            <a:off x="0" y="360"/>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25" name="TextBox 24"/>
          <p:cNvSpPr txBox="1"/>
          <p:nvPr/>
        </p:nvSpPr>
        <p:spPr>
          <a:xfrm>
            <a:off x="369397" y="117693"/>
            <a:ext cx="11503948" cy="6186309"/>
          </a:xfrm>
          <a:prstGeom prst="rect">
            <a:avLst/>
          </a:prstGeom>
          <a:noFill/>
        </p:spPr>
        <p:txBody>
          <a:bodyPr wrap="square" rtlCol="0">
            <a:spAutoFit/>
          </a:bodyPr>
          <a:lstStyle/>
          <a:p>
            <a:pPr lvl="0" eaLnBrk="0" fontAlgn="base" hangingPunct="0">
              <a:spcBef>
                <a:spcPct val="0"/>
              </a:spcBef>
              <a:spcAft>
                <a:spcPct val="0"/>
              </a:spcAft>
            </a:pPr>
            <a:r>
              <a:rPr lang="en-US" b="1" dirty="0">
                <a:solidFill>
                  <a:srgbClr val="000000"/>
                </a:solidFill>
                <a:latin typeface="urw-din"/>
                <a:cs typeface="Segoe UI" panose="020B0502040204020203" pitchFamily="34" charset="0"/>
              </a:rPr>
              <a:t>Python Dates</a:t>
            </a:r>
          </a:p>
          <a:p>
            <a:pPr lvl="0" eaLnBrk="0" fontAlgn="base" hangingPunct="0">
              <a:spcBef>
                <a:spcPct val="0"/>
              </a:spcBef>
              <a:spcAft>
                <a:spcPct val="0"/>
              </a:spcAft>
            </a:pPr>
            <a:r>
              <a:rPr lang="en-US" dirty="0" smtClean="0">
                <a:solidFill>
                  <a:srgbClr val="000000"/>
                </a:solidFill>
                <a:latin typeface="urw-din"/>
              </a:rPr>
              <a:t>          A </a:t>
            </a:r>
            <a:r>
              <a:rPr lang="en-US" dirty="0">
                <a:solidFill>
                  <a:srgbClr val="000000"/>
                </a:solidFill>
                <a:latin typeface="urw-din"/>
              </a:rPr>
              <a:t>date in Python is not a data type of its own, but we can import a module named </a:t>
            </a:r>
            <a:r>
              <a:rPr lang="en-US" dirty="0" err="1">
                <a:solidFill>
                  <a:srgbClr val="DC143C"/>
                </a:solidFill>
                <a:latin typeface="urw-din"/>
              </a:rPr>
              <a:t>datetime</a:t>
            </a:r>
            <a:r>
              <a:rPr lang="en-US" dirty="0">
                <a:solidFill>
                  <a:srgbClr val="000000"/>
                </a:solidFill>
                <a:latin typeface="urw-din"/>
              </a:rPr>
              <a:t> to work with dates as date </a:t>
            </a:r>
            <a:r>
              <a:rPr lang="en-US" dirty="0" smtClean="0">
                <a:solidFill>
                  <a:srgbClr val="000000"/>
                </a:solidFill>
                <a:latin typeface="urw-din"/>
              </a:rPr>
              <a:t>objects. The</a:t>
            </a:r>
            <a:r>
              <a:rPr lang="en-US" dirty="0">
                <a:solidFill>
                  <a:srgbClr val="000000"/>
                </a:solidFill>
                <a:latin typeface="urw-din"/>
              </a:rPr>
              <a:t> </a:t>
            </a:r>
            <a:r>
              <a:rPr lang="en-US" dirty="0" err="1">
                <a:solidFill>
                  <a:srgbClr val="DC143C"/>
                </a:solidFill>
                <a:latin typeface="urw-din"/>
              </a:rPr>
              <a:t>datetime</a:t>
            </a:r>
            <a:r>
              <a:rPr lang="en-US" dirty="0">
                <a:solidFill>
                  <a:srgbClr val="DC143C"/>
                </a:solidFill>
                <a:latin typeface="urw-din"/>
              </a:rPr>
              <a:t>()</a:t>
            </a:r>
            <a:r>
              <a:rPr lang="en-US" dirty="0">
                <a:solidFill>
                  <a:srgbClr val="000000"/>
                </a:solidFill>
                <a:latin typeface="urw-din"/>
              </a:rPr>
              <a:t> class requires three parameters to create a date: year, month, day.</a:t>
            </a:r>
            <a:r>
              <a:rPr lang="en-US" dirty="0">
                <a:latin typeface="urw-din"/>
              </a:rPr>
              <a:t> </a:t>
            </a:r>
          </a:p>
          <a:p>
            <a:r>
              <a:rPr lang="en-US" dirty="0">
                <a:solidFill>
                  <a:srgbClr val="000000"/>
                </a:solidFill>
                <a:latin typeface="urw-din"/>
              </a:rPr>
              <a:t>The method is called </a:t>
            </a:r>
            <a:r>
              <a:rPr lang="en-US" dirty="0" err="1">
                <a:solidFill>
                  <a:srgbClr val="DC143C"/>
                </a:solidFill>
                <a:latin typeface="urw-din"/>
              </a:rPr>
              <a:t>strftime</a:t>
            </a:r>
            <a:r>
              <a:rPr lang="en-US" dirty="0">
                <a:solidFill>
                  <a:srgbClr val="DC143C"/>
                </a:solidFill>
                <a:latin typeface="urw-din"/>
              </a:rPr>
              <a:t>()</a:t>
            </a:r>
            <a:r>
              <a:rPr lang="en-US" dirty="0">
                <a:solidFill>
                  <a:srgbClr val="000000"/>
                </a:solidFill>
                <a:latin typeface="urw-din"/>
              </a:rPr>
              <a:t>, and takes one parameter, </a:t>
            </a:r>
            <a:r>
              <a:rPr lang="en-US" dirty="0">
                <a:solidFill>
                  <a:srgbClr val="DC143C"/>
                </a:solidFill>
                <a:latin typeface="urw-din"/>
              </a:rPr>
              <a:t>format</a:t>
            </a:r>
            <a:r>
              <a:rPr lang="en-US" dirty="0">
                <a:solidFill>
                  <a:srgbClr val="000000"/>
                </a:solidFill>
                <a:latin typeface="urw-din"/>
              </a:rPr>
              <a:t>, to specify the format of the returned </a:t>
            </a:r>
            <a:r>
              <a:rPr lang="en-US" dirty="0" smtClean="0">
                <a:solidFill>
                  <a:srgbClr val="000000"/>
                </a:solidFill>
                <a:latin typeface="urw-din"/>
              </a:rPr>
              <a:t>string </a:t>
            </a:r>
          </a:p>
          <a:p>
            <a:r>
              <a:rPr lang="en-US" dirty="0" smtClean="0">
                <a:latin typeface="urw-din"/>
              </a:rPr>
              <a:t> </a:t>
            </a:r>
            <a:endParaRPr lang="en-US" dirty="0">
              <a:latin typeface="urw-din"/>
            </a:endParaRPr>
          </a:p>
          <a:p>
            <a:pPr lvl="0"/>
            <a:r>
              <a:rPr lang="en-US" b="1" dirty="0" smtClean="0">
                <a:solidFill>
                  <a:srgbClr val="000000"/>
                </a:solidFill>
                <a:latin typeface="urw-din"/>
              </a:rPr>
              <a:t>ABS  : </a:t>
            </a:r>
            <a:r>
              <a:rPr lang="en-US" dirty="0" smtClean="0">
                <a:solidFill>
                  <a:srgbClr val="000000"/>
                </a:solidFill>
                <a:latin typeface="urw-din"/>
              </a:rPr>
              <a:t>The</a:t>
            </a:r>
            <a:r>
              <a:rPr lang="en-US" dirty="0">
                <a:solidFill>
                  <a:srgbClr val="000000"/>
                </a:solidFill>
                <a:latin typeface="urw-din"/>
              </a:rPr>
              <a:t> </a:t>
            </a:r>
            <a:r>
              <a:rPr lang="en-US" dirty="0">
                <a:solidFill>
                  <a:srgbClr val="DC143C"/>
                </a:solidFill>
                <a:latin typeface="urw-din"/>
              </a:rPr>
              <a:t>abs()</a:t>
            </a:r>
            <a:r>
              <a:rPr lang="en-US" dirty="0">
                <a:solidFill>
                  <a:srgbClr val="000000"/>
                </a:solidFill>
                <a:latin typeface="urw-din"/>
              </a:rPr>
              <a:t> function returns the absolute (positive) value of the specified number:</a:t>
            </a:r>
            <a:endParaRPr lang="en-US" b="1" dirty="0">
              <a:solidFill>
                <a:srgbClr val="000000"/>
              </a:solidFill>
              <a:latin typeface="urw-din"/>
            </a:endParaRPr>
          </a:p>
          <a:p>
            <a:r>
              <a:rPr lang="en-US" b="1" dirty="0" smtClean="0">
                <a:solidFill>
                  <a:srgbClr val="000000"/>
                </a:solidFill>
                <a:latin typeface="urw-din"/>
              </a:rPr>
              <a:t>POW :</a:t>
            </a:r>
            <a:r>
              <a:rPr lang="en-US" dirty="0">
                <a:solidFill>
                  <a:srgbClr val="000000"/>
                </a:solidFill>
                <a:latin typeface="urw-din"/>
              </a:rPr>
              <a:t> </a:t>
            </a:r>
            <a:r>
              <a:rPr lang="en-US" dirty="0">
                <a:solidFill>
                  <a:srgbClr val="DC143C"/>
                </a:solidFill>
                <a:latin typeface="urw-din"/>
              </a:rPr>
              <a:t>pow(</a:t>
            </a:r>
            <a:r>
              <a:rPr lang="en-US" i="1" dirty="0">
                <a:solidFill>
                  <a:srgbClr val="DC143C"/>
                </a:solidFill>
                <a:latin typeface="urw-din"/>
              </a:rPr>
              <a:t>x</a:t>
            </a:r>
            <a:r>
              <a:rPr lang="en-US" dirty="0">
                <a:solidFill>
                  <a:srgbClr val="DC143C"/>
                </a:solidFill>
                <a:latin typeface="urw-din"/>
              </a:rPr>
              <a:t>, </a:t>
            </a:r>
            <a:r>
              <a:rPr lang="en-US" i="1" dirty="0">
                <a:solidFill>
                  <a:srgbClr val="DC143C"/>
                </a:solidFill>
                <a:latin typeface="urw-din"/>
              </a:rPr>
              <a:t>y</a:t>
            </a:r>
            <a:r>
              <a:rPr lang="en-US" dirty="0">
                <a:solidFill>
                  <a:srgbClr val="DC143C"/>
                </a:solidFill>
                <a:latin typeface="urw-din"/>
              </a:rPr>
              <a:t>)</a:t>
            </a:r>
            <a:r>
              <a:rPr lang="en-US" dirty="0">
                <a:solidFill>
                  <a:srgbClr val="000000"/>
                </a:solidFill>
                <a:latin typeface="urw-din"/>
              </a:rPr>
              <a:t> function returns the value of x to the power of y.(2,3)(2*2*2=8)</a:t>
            </a:r>
            <a:r>
              <a:rPr lang="en-US" dirty="0">
                <a:latin typeface="urw-din"/>
              </a:rPr>
              <a:t> </a:t>
            </a:r>
          </a:p>
          <a:p>
            <a:pPr lvl="0"/>
            <a:r>
              <a:rPr lang="en-US" dirty="0">
                <a:latin typeface="urw-din"/>
              </a:rPr>
              <a:t> </a:t>
            </a:r>
            <a:r>
              <a:rPr lang="en-US" dirty="0" smtClean="0">
                <a:latin typeface="urw-din"/>
              </a:rPr>
              <a:t>          incase </a:t>
            </a:r>
            <a:r>
              <a:rPr lang="en-US" dirty="0">
                <a:latin typeface="urw-din"/>
              </a:rPr>
              <a:t>three values were given (</a:t>
            </a:r>
            <a:r>
              <a:rPr lang="en-US" dirty="0" err="1">
                <a:latin typeface="urw-din"/>
              </a:rPr>
              <a:t>x,y,z</a:t>
            </a:r>
            <a:r>
              <a:rPr lang="en-US" dirty="0">
                <a:latin typeface="urw-din"/>
              </a:rPr>
              <a:t>)=((x**y</a:t>
            </a:r>
            <a:r>
              <a:rPr lang="en-US" dirty="0" smtClean="0">
                <a:latin typeface="urw-din"/>
              </a:rPr>
              <a:t>)%z)</a:t>
            </a:r>
          </a:p>
          <a:p>
            <a:pPr lvl="0"/>
            <a:endParaRPr lang="en-US" dirty="0" smtClean="0">
              <a:latin typeface="urw-din"/>
            </a:endParaRPr>
          </a:p>
          <a:p>
            <a:pPr lvl="0"/>
            <a:r>
              <a:rPr lang="en-US" b="1" dirty="0" smtClean="0">
                <a:solidFill>
                  <a:srgbClr val="000000"/>
                </a:solidFill>
                <a:latin typeface="urw-din"/>
                <a:cs typeface="Segoe UI" panose="020B0502040204020203" pitchFamily="34" charset="0"/>
              </a:rPr>
              <a:t>What is PIP: P</a:t>
            </a:r>
            <a:r>
              <a:rPr lang="en-US" dirty="0" smtClean="0">
                <a:solidFill>
                  <a:srgbClr val="000000"/>
                </a:solidFill>
                <a:latin typeface="urw-din"/>
              </a:rPr>
              <a:t>IP </a:t>
            </a:r>
            <a:r>
              <a:rPr lang="en-US" dirty="0">
                <a:solidFill>
                  <a:srgbClr val="000000"/>
                </a:solidFill>
                <a:latin typeface="urw-din"/>
              </a:rPr>
              <a:t>is a package manager for Python packages, or modules if you like.</a:t>
            </a:r>
            <a:endParaRPr lang="en-US" dirty="0">
              <a:latin typeface="urw-din"/>
            </a:endParaRPr>
          </a:p>
          <a:p>
            <a:pPr lvl="0"/>
            <a:r>
              <a:rPr lang="en-US" b="1" dirty="0">
                <a:solidFill>
                  <a:srgbClr val="000000"/>
                </a:solidFill>
                <a:latin typeface="urw-din"/>
                <a:cs typeface="Segoe UI" panose="020B0502040204020203" pitchFamily="34" charset="0"/>
              </a:rPr>
              <a:t>What is a </a:t>
            </a:r>
            <a:r>
              <a:rPr lang="en-US" b="1" dirty="0" smtClean="0">
                <a:solidFill>
                  <a:srgbClr val="000000"/>
                </a:solidFill>
                <a:latin typeface="urw-din"/>
                <a:cs typeface="Segoe UI" panose="020B0502040204020203" pitchFamily="34" charset="0"/>
              </a:rPr>
              <a:t>Package: </a:t>
            </a:r>
            <a:r>
              <a:rPr lang="en-US" dirty="0" smtClean="0">
                <a:solidFill>
                  <a:srgbClr val="000000"/>
                </a:solidFill>
                <a:latin typeface="urw-din"/>
              </a:rPr>
              <a:t>A </a:t>
            </a:r>
            <a:r>
              <a:rPr lang="en-US" dirty="0">
                <a:solidFill>
                  <a:srgbClr val="000000"/>
                </a:solidFill>
                <a:latin typeface="urw-din"/>
              </a:rPr>
              <a:t>package contains all the files you need for a module.</a:t>
            </a:r>
            <a:endParaRPr lang="en-US" dirty="0">
              <a:latin typeface="urw-din"/>
            </a:endParaRPr>
          </a:p>
          <a:p>
            <a:pPr lvl="0"/>
            <a:r>
              <a:rPr lang="en-US" dirty="0">
                <a:solidFill>
                  <a:srgbClr val="000000"/>
                </a:solidFill>
                <a:latin typeface="urw-din"/>
              </a:rPr>
              <a:t>Modules are Python code libraries you can include in your project</a:t>
            </a:r>
            <a:r>
              <a:rPr lang="en-US" dirty="0" smtClean="0">
                <a:solidFill>
                  <a:srgbClr val="000000"/>
                </a:solidFill>
                <a:latin typeface="urw-din"/>
              </a:rPr>
              <a:t>.</a:t>
            </a:r>
          </a:p>
          <a:p>
            <a:pPr lvl="0"/>
            <a:endParaRPr lang="en-US" b="1" dirty="0">
              <a:solidFill>
                <a:srgbClr val="000000"/>
              </a:solidFill>
              <a:latin typeface="urw-din"/>
              <a:cs typeface="Segoe UI" panose="020B0502040204020203" pitchFamily="34" charset="0"/>
            </a:endParaRPr>
          </a:p>
          <a:p>
            <a:pPr lvl="0"/>
            <a:r>
              <a:rPr lang="en-US" b="1" dirty="0" smtClean="0">
                <a:solidFill>
                  <a:srgbClr val="000000"/>
                </a:solidFill>
                <a:latin typeface="urw-din"/>
                <a:cs typeface="Segoe UI" panose="020B0502040204020203" pitchFamily="34" charset="0"/>
              </a:rPr>
              <a:t>Exception </a:t>
            </a:r>
            <a:r>
              <a:rPr lang="en-US" b="1" dirty="0">
                <a:solidFill>
                  <a:srgbClr val="000000"/>
                </a:solidFill>
                <a:latin typeface="urw-din"/>
                <a:cs typeface="Segoe UI" panose="020B0502040204020203" pitchFamily="34" charset="0"/>
              </a:rPr>
              <a:t>Handling</a:t>
            </a:r>
          </a:p>
          <a:p>
            <a:pPr lvl="0"/>
            <a:r>
              <a:rPr lang="en-US" dirty="0">
                <a:solidFill>
                  <a:srgbClr val="000000"/>
                </a:solidFill>
                <a:latin typeface="urw-din"/>
              </a:rPr>
              <a:t>When an error occurs, or exception as we call it, Python will normally stop and generate an error message.</a:t>
            </a:r>
            <a:endParaRPr lang="en-US" dirty="0">
              <a:latin typeface="urw-din"/>
            </a:endParaRPr>
          </a:p>
          <a:p>
            <a:pPr marL="285750" indent="-285750">
              <a:buFont typeface="Arial" panose="020B0604020202020204" pitchFamily="34" charset="0"/>
              <a:buChar char="•"/>
            </a:pPr>
            <a:r>
              <a:rPr lang="en-US" dirty="0" smtClean="0">
                <a:solidFill>
                  <a:srgbClr val="000000"/>
                </a:solidFill>
                <a:latin typeface="urw-din"/>
              </a:rPr>
              <a:t>The</a:t>
            </a:r>
            <a:r>
              <a:rPr lang="en-US" dirty="0">
                <a:solidFill>
                  <a:srgbClr val="000000"/>
                </a:solidFill>
                <a:latin typeface="urw-din"/>
              </a:rPr>
              <a:t> </a:t>
            </a:r>
            <a:r>
              <a:rPr lang="en-US" dirty="0">
                <a:solidFill>
                  <a:srgbClr val="DC143C"/>
                </a:solidFill>
                <a:latin typeface="urw-din"/>
              </a:rPr>
              <a:t>try</a:t>
            </a:r>
            <a:r>
              <a:rPr lang="en-US" dirty="0">
                <a:solidFill>
                  <a:srgbClr val="000000"/>
                </a:solidFill>
                <a:latin typeface="urw-din"/>
              </a:rPr>
              <a:t> block lets you test a block of code for errors.</a:t>
            </a:r>
            <a:r>
              <a:rPr lang="en-US" dirty="0">
                <a:latin typeface="urw-din"/>
              </a:rPr>
              <a:t> </a:t>
            </a:r>
          </a:p>
          <a:p>
            <a:pPr marL="285750" lvl="0" indent="-285750">
              <a:buFont typeface="Arial" panose="020B0604020202020204" pitchFamily="34" charset="0"/>
              <a:buChar char="•"/>
            </a:pPr>
            <a:r>
              <a:rPr lang="en-US" dirty="0">
                <a:solidFill>
                  <a:srgbClr val="000000"/>
                </a:solidFill>
                <a:latin typeface="urw-din"/>
              </a:rPr>
              <a:t>The </a:t>
            </a:r>
            <a:r>
              <a:rPr lang="en-US" dirty="0">
                <a:solidFill>
                  <a:srgbClr val="DC143C"/>
                </a:solidFill>
                <a:latin typeface="urw-din"/>
              </a:rPr>
              <a:t>except</a:t>
            </a:r>
            <a:r>
              <a:rPr lang="en-US" dirty="0">
                <a:solidFill>
                  <a:srgbClr val="000000"/>
                </a:solidFill>
                <a:latin typeface="urw-din"/>
              </a:rPr>
              <a:t> block lets you handle the error.</a:t>
            </a:r>
            <a:r>
              <a:rPr lang="en-US" dirty="0">
                <a:latin typeface="urw-din"/>
              </a:rPr>
              <a:t> </a:t>
            </a:r>
          </a:p>
          <a:p>
            <a:pPr marL="285750" indent="-285750">
              <a:buFont typeface="Arial" panose="020B0604020202020204" pitchFamily="34" charset="0"/>
              <a:buChar char="•"/>
            </a:pPr>
            <a:r>
              <a:rPr lang="en-US" dirty="0">
                <a:solidFill>
                  <a:srgbClr val="000000"/>
                </a:solidFill>
                <a:latin typeface="urw-din"/>
              </a:rPr>
              <a:t>You can use the </a:t>
            </a:r>
            <a:r>
              <a:rPr lang="en-US" dirty="0">
                <a:solidFill>
                  <a:srgbClr val="DC143C"/>
                </a:solidFill>
                <a:latin typeface="urw-din"/>
              </a:rPr>
              <a:t>else</a:t>
            </a:r>
            <a:r>
              <a:rPr lang="en-US" dirty="0">
                <a:solidFill>
                  <a:srgbClr val="000000"/>
                </a:solidFill>
                <a:latin typeface="urw-din"/>
              </a:rPr>
              <a:t> keyword to define a block of code to be executed if no errors were raised:</a:t>
            </a:r>
            <a:r>
              <a:rPr lang="en-US" dirty="0">
                <a:latin typeface="urw-din"/>
              </a:rPr>
              <a:t> </a:t>
            </a:r>
          </a:p>
          <a:p>
            <a:pPr marL="285750" lvl="0" indent="-285750">
              <a:buFont typeface="Arial" panose="020B0604020202020204" pitchFamily="34" charset="0"/>
              <a:buChar char="•"/>
            </a:pPr>
            <a:r>
              <a:rPr lang="en-US" dirty="0">
                <a:solidFill>
                  <a:srgbClr val="000000"/>
                </a:solidFill>
                <a:latin typeface="urw-din"/>
              </a:rPr>
              <a:t>The </a:t>
            </a:r>
            <a:r>
              <a:rPr lang="en-US" dirty="0">
                <a:solidFill>
                  <a:srgbClr val="DC143C"/>
                </a:solidFill>
                <a:latin typeface="urw-din"/>
              </a:rPr>
              <a:t>finally</a:t>
            </a:r>
            <a:r>
              <a:rPr lang="en-US" dirty="0">
                <a:solidFill>
                  <a:srgbClr val="000000"/>
                </a:solidFill>
                <a:latin typeface="urw-din"/>
              </a:rPr>
              <a:t> block, if specified, will be executed regardless if the try block raises an error or not.</a:t>
            </a:r>
            <a:r>
              <a:rPr lang="en-US" dirty="0">
                <a:latin typeface="urw-din"/>
              </a:rPr>
              <a:t> </a:t>
            </a:r>
          </a:p>
          <a:p>
            <a:pPr marL="285750" lvl="0" indent="-285750">
              <a:buFont typeface="Arial" panose="020B0604020202020204" pitchFamily="34" charset="0"/>
              <a:buChar char="•"/>
            </a:pPr>
            <a:r>
              <a:rPr lang="en-US" dirty="0">
                <a:solidFill>
                  <a:srgbClr val="000000"/>
                </a:solidFill>
                <a:latin typeface="urw-din"/>
                <a:cs typeface="Segoe UI" panose="020B0502040204020203" pitchFamily="34" charset="0"/>
              </a:rPr>
              <a:t>Raise an exception</a:t>
            </a:r>
          </a:p>
          <a:p>
            <a:pPr lvl="0"/>
            <a:r>
              <a:rPr lang="en-US" dirty="0" smtClean="0">
                <a:solidFill>
                  <a:srgbClr val="000000"/>
                </a:solidFill>
                <a:latin typeface="urw-din"/>
              </a:rPr>
              <a:t>           As a </a:t>
            </a:r>
            <a:r>
              <a:rPr lang="en-US" dirty="0">
                <a:solidFill>
                  <a:srgbClr val="000000"/>
                </a:solidFill>
                <a:latin typeface="urw-din"/>
              </a:rPr>
              <a:t>Python developer you can choose to throw an exception if a condition occurs.</a:t>
            </a:r>
            <a:endParaRPr lang="en-US" dirty="0">
              <a:latin typeface="urw-din"/>
            </a:endParaRPr>
          </a:p>
          <a:p>
            <a:pPr lvl="0"/>
            <a:r>
              <a:rPr lang="en-US" dirty="0">
                <a:solidFill>
                  <a:srgbClr val="000000"/>
                </a:solidFill>
                <a:latin typeface="urw-din"/>
              </a:rPr>
              <a:t>To throw (or raise) an exception, use the </a:t>
            </a:r>
            <a:r>
              <a:rPr lang="en-US" dirty="0">
                <a:solidFill>
                  <a:srgbClr val="DC143C"/>
                </a:solidFill>
                <a:latin typeface="urw-din"/>
              </a:rPr>
              <a:t>raise</a:t>
            </a:r>
            <a:r>
              <a:rPr lang="en-US" dirty="0">
                <a:solidFill>
                  <a:srgbClr val="000000"/>
                </a:solidFill>
                <a:latin typeface="urw-din"/>
              </a:rPr>
              <a:t> keyword.</a:t>
            </a:r>
            <a:endParaRPr lang="en-US" dirty="0">
              <a:latin typeface="urw-din"/>
            </a:endParaRPr>
          </a:p>
        </p:txBody>
      </p:sp>
    </p:spTree>
    <p:extLst>
      <p:ext uri="{BB962C8B-B14F-4D97-AF65-F5344CB8AC3E}">
        <p14:creationId xmlns:p14="http://schemas.microsoft.com/office/powerpoint/2010/main" val="195695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360"/>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a:off x="0" y="360"/>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TextBox 11"/>
          <p:cNvSpPr txBox="1"/>
          <p:nvPr/>
        </p:nvSpPr>
        <p:spPr>
          <a:xfrm>
            <a:off x="429491" y="228599"/>
            <a:ext cx="11014363" cy="5909310"/>
          </a:xfrm>
          <a:prstGeom prst="rect">
            <a:avLst/>
          </a:prstGeom>
          <a:noFill/>
        </p:spPr>
        <p:txBody>
          <a:bodyPr wrap="square" rtlCol="0">
            <a:spAutoFit/>
          </a:bodyPr>
          <a:lstStyle/>
          <a:p>
            <a:pPr lvl="0" eaLnBrk="0" fontAlgn="base" hangingPunct="0">
              <a:spcBef>
                <a:spcPct val="0"/>
              </a:spcBef>
              <a:spcAft>
                <a:spcPct val="0"/>
              </a:spcAft>
            </a:pPr>
            <a:r>
              <a:rPr lang="en-US" b="1" dirty="0">
                <a:solidFill>
                  <a:srgbClr val="000000"/>
                </a:solidFill>
                <a:latin typeface="urw-din"/>
                <a:cs typeface="Segoe UI" panose="020B0502040204020203" pitchFamily="34" charset="0"/>
              </a:rPr>
              <a:t>String format()</a:t>
            </a:r>
          </a:p>
          <a:p>
            <a:pPr lvl="0" eaLnBrk="0" fontAlgn="base" hangingPunct="0">
              <a:spcBef>
                <a:spcPct val="0"/>
              </a:spcBef>
              <a:spcAft>
                <a:spcPct val="0"/>
              </a:spcAft>
            </a:pPr>
            <a:r>
              <a:rPr lang="en-US" dirty="0">
                <a:solidFill>
                  <a:srgbClr val="000000"/>
                </a:solidFill>
                <a:latin typeface="urw-din"/>
              </a:rPr>
              <a:t>The </a:t>
            </a:r>
            <a:r>
              <a:rPr lang="en-US" dirty="0">
                <a:solidFill>
                  <a:srgbClr val="DC143C"/>
                </a:solidFill>
                <a:latin typeface="urw-din"/>
              </a:rPr>
              <a:t>format()</a:t>
            </a:r>
            <a:r>
              <a:rPr lang="en-US" dirty="0">
                <a:solidFill>
                  <a:srgbClr val="000000"/>
                </a:solidFill>
                <a:latin typeface="urw-din"/>
              </a:rPr>
              <a:t> method allows you to format selected parts of a string</a:t>
            </a:r>
            <a:r>
              <a:rPr lang="en-US" dirty="0" smtClean="0">
                <a:solidFill>
                  <a:srgbClr val="000000"/>
                </a:solidFill>
                <a:latin typeface="urw-din"/>
              </a:rPr>
              <a:t>.</a:t>
            </a:r>
          </a:p>
          <a:p>
            <a:pPr lvl="0" eaLnBrk="0" fontAlgn="base" hangingPunct="0">
              <a:spcBef>
                <a:spcPct val="0"/>
              </a:spcBef>
              <a:spcAft>
                <a:spcPct val="0"/>
              </a:spcAft>
            </a:pPr>
            <a:endParaRPr lang="en-US" dirty="0">
              <a:solidFill>
                <a:srgbClr val="000000"/>
              </a:solidFill>
              <a:latin typeface="urw-din"/>
            </a:endParaRPr>
          </a:p>
          <a:p>
            <a:pPr lvl="0"/>
            <a:r>
              <a:rPr lang="en-US" b="1" dirty="0">
                <a:solidFill>
                  <a:srgbClr val="000000"/>
                </a:solidFill>
                <a:latin typeface="urw-din"/>
                <a:cs typeface="Segoe UI" panose="020B0502040204020203" pitchFamily="34" charset="0"/>
              </a:rPr>
              <a:t>File </a:t>
            </a:r>
            <a:r>
              <a:rPr lang="en-US" b="1" dirty="0" smtClean="0">
                <a:solidFill>
                  <a:srgbClr val="000000"/>
                </a:solidFill>
                <a:latin typeface="urw-din"/>
                <a:cs typeface="Segoe UI" panose="020B0502040204020203" pitchFamily="34" charset="0"/>
              </a:rPr>
              <a:t>Handling</a:t>
            </a:r>
            <a:endParaRPr lang="en-US" b="1" dirty="0">
              <a:solidFill>
                <a:srgbClr val="000000"/>
              </a:solidFill>
              <a:latin typeface="urw-din"/>
              <a:cs typeface="Segoe UI" panose="020B0502040204020203" pitchFamily="34" charset="0"/>
            </a:endParaRPr>
          </a:p>
          <a:p>
            <a:pPr lvl="0"/>
            <a:r>
              <a:rPr lang="en-US" dirty="0">
                <a:solidFill>
                  <a:srgbClr val="000000"/>
                </a:solidFill>
                <a:latin typeface="urw-din"/>
              </a:rPr>
              <a:t>The key function for working with files in Python is the </a:t>
            </a:r>
            <a:r>
              <a:rPr lang="en-US" dirty="0">
                <a:solidFill>
                  <a:srgbClr val="DC143C"/>
                </a:solidFill>
                <a:latin typeface="urw-din"/>
              </a:rPr>
              <a:t>open()</a:t>
            </a:r>
            <a:r>
              <a:rPr lang="en-US" dirty="0">
                <a:solidFill>
                  <a:srgbClr val="000000"/>
                </a:solidFill>
                <a:latin typeface="urw-din"/>
              </a:rPr>
              <a:t> function.</a:t>
            </a:r>
            <a:endParaRPr lang="en-US" dirty="0">
              <a:latin typeface="urw-din"/>
            </a:endParaRPr>
          </a:p>
          <a:p>
            <a:pPr lvl="0"/>
            <a:r>
              <a:rPr lang="en-US" dirty="0">
                <a:solidFill>
                  <a:srgbClr val="000000"/>
                </a:solidFill>
                <a:latin typeface="urw-din"/>
              </a:rPr>
              <a:t>The </a:t>
            </a:r>
            <a:r>
              <a:rPr lang="en-US" dirty="0">
                <a:solidFill>
                  <a:srgbClr val="DC143C"/>
                </a:solidFill>
                <a:latin typeface="urw-din"/>
              </a:rPr>
              <a:t>open()</a:t>
            </a:r>
            <a:r>
              <a:rPr lang="en-US" dirty="0">
                <a:solidFill>
                  <a:srgbClr val="000000"/>
                </a:solidFill>
                <a:latin typeface="urw-din"/>
              </a:rPr>
              <a:t> function takes two parameters; </a:t>
            </a:r>
            <a:r>
              <a:rPr lang="en-US" i="1" dirty="0">
                <a:solidFill>
                  <a:srgbClr val="000000"/>
                </a:solidFill>
                <a:latin typeface="urw-din"/>
              </a:rPr>
              <a:t>filename</a:t>
            </a:r>
            <a:r>
              <a:rPr lang="en-US" dirty="0">
                <a:solidFill>
                  <a:srgbClr val="000000"/>
                </a:solidFill>
                <a:latin typeface="urw-din"/>
              </a:rPr>
              <a:t>, and </a:t>
            </a:r>
            <a:r>
              <a:rPr lang="en-US" i="1" dirty="0">
                <a:solidFill>
                  <a:srgbClr val="000000"/>
                </a:solidFill>
                <a:latin typeface="urw-din"/>
              </a:rPr>
              <a:t>mode</a:t>
            </a:r>
            <a:r>
              <a:rPr lang="en-US" dirty="0" smtClean="0">
                <a:solidFill>
                  <a:srgbClr val="000000"/>
                </a:solidFill>
                <a:latin typeface="urw-din"/>
              </a:rPr>
              <a:t>.</a:t>
            </a:r>
          </a:p>
          <a:p>
            <a:pPr lvl="0"/>
            <a:r>
              <a:rPr lang="en-US" dirty="0" smtClean="0">
                <a:solidFill>
                  <a:srgbClr val="000000"/>
                </a:solidFill>
                <a:latin typeface="urw-din"/>
              </a:rPr>
              <a:t>Modes:</a:t>
            </a:r>
            <a:endParaRPr lang="en-US" dirty="0">
              <a:latin typeface="urw-din"/>
            </a:endParaRPr>
          </a:p>
          <a:p>
            <a:pPr lvl="0"/>
            <a:r>
              <a:rPr lang="en-US" dirty="0">
                <a:solidFill>
                  <a:srgbClr val="DC143C"/>
                </a:solidFill>
                <a:latin typeface="urw-din"/>
              </a:rPr>
              <a:t>"r"</a:t>
            </a:r>
            <a:r>
              <a:rPr lang="en-US" dirty="0">
                <a:solidFill>
                  <a:srgbClr val="000000"/>
                </a:solidFill>
                <a:latin typeface="urw-din"/>
              </a:rPr>
              <a:t> - Read </a:t>
            </a:r>
            <a:r>
              <a:rPr lang="en-US" dirty="0" smtClean="0">
                <a:solidFill>
                  <a:srgbClr val="000000"/>
                </a:solidFill>
                <a:latin typeface="urw-din"/>
              </a:rPr>
              <a:t> </a:t>
            </a:r>
            <a:r>
              <a:rPr lang="en-US" dirty="0">
                <a:solidFill>
                  <a:srgbClr val="000000"/>
                </a:solidFill>
                <a:latin typeface="urw-din"/>
              </a:rPr>
              <a:t>Opens a file for reading, error if the file does not exist</a:t>
            </a:r>
            <a:endParaRPr lang="en-US" dirty="0">
              <a:latin typeface="urw-din"/>
            </a:endParaRPr>
          </a:p>
          <a:p>
            <a:pPr lvl="0"/>
            <a:r>
              <a:rPr lang="en-US" dirty="0">
                <a:solidFill>
                  <a:srgbClr val="DC143C"/>
                </a:solidFill>
                <a:latin typeface="urw-din"/>
              </a:rPr>
              <a:t>"a"</a:t>
            </a:r>
            <a:r>
              <a:rPr lang="en-US" dirty="0">
                <a:solidFill>
                  <a:srgbClr val="000000"/>
                </a:solidFill>
                <a:latin typeface="urw-din"/>
              </a:rPr>
              <a:t> - Append - Opens a file for appending, creates the file if it does not exist</a:t>
            </a:r>
            <a:endParaRPr lang="en-US" dirty="0">
              <a:latin typeface="urw-din"/>
            </a:endParaRPr>
          </a:p>
          <a:p>
            <a:pPr lvl="0"/>
            <a:r>
              <a:rPr lang="en-US" dirty="0">
                <a:solidFill>
                  <a:srgbClr val="DC143C"/>
                </a:solidFill>
                <a:latin typeface="urw-din"/>
              </a:rPr>
              <a:t>"w"</a:t>
            </a:r>
            <a:r>
              <a:rPr lang="en-US" dirty="0">
                <a:solidFill>
                  <a:srgbClr val="000000"/>
                </a:solidFill>
                <a:latin typeface="urw-din"/>
              </a:rPr>
              <a:t> - Write - Opens a file for writing, creates the file if it does not exist</a:t>
            </a:r>
            <a:endParaRPr lang="en-US" dirty="0">
              <a:latin typeface="urw-din"/>
            </a:endParaRPr>
          </a:p>
          <a:p>
            <a:pPr lvl="0"/>
            <a:r>
              <a:rPr lang="en-US" dirty="0">
                <a:solidFill>
                  <a:srgbClr val="DC143C"/>
                </a:solidFill>
                <a:latin typeface="urw-din"/>
              </a:rPr>
              <a:t>"x"</a:t>
            </a:r>
            <a:r>
              <a:rPr lang="en-US" dirty="0">
                <a:solidFill>
                  <a:srgbClr val="000000"/>
                </a:solidFill>
                <a:latin typeface="urw-din"/>
              </a:rPr>
              <a:t> - Create - Creates the specified file, returns an error if the file exists</a:t>
            </a:r>
            <a:endParaRPr lang="en-US" dirty="0">
              <a:latin typeface="urw-din"/>
            </a:endParaRPr>
          </a:p>
          <a:p>
            <a:pPr lvl="0"/>
            <a:r>
              <a:rPr lang="en-US" dirty="0">
                <a:solidFill>
                  <a:srgbClr val="DC143C"/>
                </a:solidFill>
                <a:latin typeface="urw-din"/>
              </a:rPr>
              <a:t>"t"</a:t>
            </a:r>
            <a:r>
              <a:rPr lang="en-US" dirty="0">
                <a:solidFill>
                  <a:srgbClr val="000000"/>
                </a:solidFill>
                <a:latin typeface="urw-din"/>
              </a:rPr>
              <a:t> - Text - Default value. Text mode</a:t>
            </a:r>
            <a:endParaRPr lang="en-US" dirty="0">
              <a:latin typeface="urw-din"/>
            </a:endParaRPr>
          </a:p>
          <a:p>
            <a:pPr lvl="0"/>
            <a:r>
              <a:rPr lang="en-US" dirty="0">
                <a:solidFill>
                  <a:srgbClr val="DC143C"/>
                </a:solidFill>
                <a:latin typeface="urw-din"/>
              </a:rPr>
              <a:t>"b"</a:t>
            </a:r>
            <a:r>
              <a:rPr lang="en-US" dirty="0">
                <a:solidFill>
                  <a:srgbClr val="000000"/>
                </a:solidFill>
                <a:latin typeface="urw-din"/>
              </a:rPr>
              <a:t> - Binary - Binary mode (e.g. images</a:t>
            </a:r>
            <a:r>
              <a:rPr lang="en-US" dirty="0" smtClean="0">
                <a:solidFill>
                  <a:srgbClr val="000000"/>
                </a:solidFill>
                <a:latin typeface="urw-din"/>
              </a:rPr>
              <a:t>)</a:t>
            </a:r>
          </a:p>
          <a:p>
            <a:pPr lvl="0"/>
            <a:endParaRPr lang="en-US" dirty="0">
              <a:solidFill>
                <a:srgbClr val="000000"/>
              </a:solidFill>
              <a:latin typeface="urw-din"/>
            </a:endParaRPr>
          </a:p>
          <a:p>
            <a:pPr lvl="0"/>
            <a:r>
              <a:rPr lang="en-US" b="1" dirty="0">
                <a:solidFill>
                  <a:srgbClr val="000000"/>
                </a:solidFill>
                <a:latin typeface="urw-din"/>
                <a:cs typeface="Segoe UI" panose="020B0502040204020203" pitchFamily="34" charset="0"/>
              </a:rPr>
              <a:t>Delete a File</a:t>
            </a:r>
          </a:p>
          <a:p>
            <a:pPr marL="285750" lvl="0" indent="-285750">
              <a:buFont typeface="Arial" panose="020B0604020202020204" pitchFamily="34" charset="0"/>
              <a:buChar char="•"/>
            </a:pPr>
            <a:r>
              <a:rPr lang="en-US" dirty="0">
                <a:solidFill>
                  <a:srgbClr val="000000"/>
                </a:solidFill>
                <a:latin typeface="urw-din"/>
              </a:rPr>
              <a:t>To delete a file, you must import the OS module, and run its </a:t>
            </a:r>
            <a:r>
              <a:rPr lang="en-US" dirty="0" err="1">
                <a:solidFill>
                  <a:srgbClr val="DC143C"/>
                </a:solidFill>
                <a:latin typeface="urw-din"/>
              </a:rPr>
              <a:t>os.remove</a:t>
            </a:r>
            <a:r>
              <a:rPr lang="en-US" dirty="0">
                <a:solidFill>
                  <a:srgbClr val="DC143C"/>
                </a:solidFill>
                <a:latin typeface="urw-din"/>
              </a:rPr>
              <a:t>()</a:t>
            </a:r>
            <a:r>
              <a:rPr lang="en-US" dirty="0">
                <a:solidFill>
                  <a:srgbClr val="000000"/>
                </a:solidFill>
                <a:latin typeface="urw-din"/>
              </a:rPr>
              <a:t> function</a:t>
            </a:r>
          </a:p>
          <a:p>
            <a:pPr lvl="0"/>
            <a:r>
              <a:rPr lang="en-IN" dirty="0">
                <a:solidFill>
                  <a:srgbClr val="00B050"/>
                </a:solidFill>
                <a:latin typeface="urw-din"/>
              </a:rPr>
              <a:t>import </a:t>
            </a:r>
            <a:r>
              <a:rPr lang="en-IN" dirty="0" err="1">
                <a:solidFill>
                  <a:srgbClr val="00B050"/>
                </a:solidFill>
                <a:latin typeface="urw-din"/>
              </a:rPr>
              <a:t>os</a:t>
            </a:r>
            <a:r>
              <a:rPr lang="en-IN" dirty="0">
                <a:solidFill>
                  <a:srgbClr val="00B050"/>
                </a:solidFill>
                <a:latin typeface="urw-din"/>
              </a:rPr>
              <a:t/>
            </a:r>
            <a:br>
              <a:rPr lang="en-IN" dirty="0">
                <a:solidFill>
                  <a:srgbClr val="00B050"/>
                </a:solidFill>
                <a:latin typeface="urw-din"/>
              </a:rPr>
            </a:br>
            <a:r>
              <a:rPr lang="en-IN" dirty="0" err="1">
                <a:solidFill>
                  <a:srgbClr val="00B050"/>
                </a:solidFill>
                <a:latin typeface="urw-din"/>
              </a:rPr>
              <a:t>os.remove</a:t>
            </a:r>
            <a:r>
              <a:rPr lang="en-IN" dirty="0">
                <a:solidFill>
                  <a:srgbClr val="00B050"/>
                </a:solidFill>
                <a:latin typeface="urw-din"/>
              </a:rPr>
              <a:t>("demofile.txt")</a:t>
            </a:r>
          </a:p>
          <a:p>
            <a:pPr marL="285750" indent="-285750">
              <a:buFont typeface="Arial" panose="020B0604020202020204" pitchFamily="34" charset="0"/>
              <a:buChar char="•"/>
            </a:pPr>
            <a:r>
              <a:rPr lang="en-US" dirty="0">
                <a:solidFill>
                  <a:srgbClr val="000000"/>
                </a:solidFill>
                <a:latin typeface="urw-din"/>
              </a:rPr>
              <a:t>To delete an entire folder, use the </a:t>
            </a:r>
            <a:r>
              <a:rPr lang="en-US" dirty="0" err="1">
                <a:solidFill>
                  <a:srgbClr val="DC143C"/>
                </a:solidFill>
                <a:latin typeface="urw-din"/>
              </a:rPr>
              <a:t>os.rmdir</a:t>
            </a:r>
            <a:r>
              <a:rPr lang="en-US" dirty="0">
                <a:solidFill>
                  <a:srgbClr val="DC143C"/>
                </a:solidFill>
                <a:latin typeface="urw-din"/>
              </a:rPr>
              <a:t>()</a:t>
            </a:r>
            <a:r>
              <a:rPr lang="en-US" dirty="0">
                <a:solidFill>
                  <a:srgbClr val="000000"/>
                </a:solidFill>
                <a:latin typeface="urw-din"/>
              </a:rPr>
              <a:t> method</a:t>
            </a:r>
            <a:r>
              <a:rPr lang="en-US" dirty="0">
                <a:latin typeface="urw-din"/>
              </a:rPr>
              <a:t> </a:t>
            </a:r>
          </a:p>
          <a:p>
            <a:r>
              <a:rPr lang="en-US" dirty="0" err="1">
                <a:solidFill>
                  <a:srgbClr val="00B050"/>
                </a:solidFill>
                <a:latin typeface="urw-din"/>
              </a:rPr>
              <a:t>os.rmdir</a:t>
            </a:r>
            <a:r>
              <a:rPr lang="en-US" dirty="0">
                <a:solidFill>
                  <a:srgbClr val="00B050"/>
                </a:solidFill>
                <a:latin typeface="urw-din"/>
              </a:rPr>
              <a:t>(“</a:t>
            </a:r>
            <a:r>
              <a:rPr lang="en-US" dirty="0" err="1">
                <a:solidFill>
                  <a:srgbClr val="00B050"/>
                </a:solidFill>
                <a:latin typeface="urw-din"/>
              </a:rPr>
              <a:t>foldername</a:t>
            </a:r>
            <a:r>
              <a:rPr lang="en-US" dirty="0">
                <a:solidFill>
                  <a:srgbClr val="00B050"/>
                </a:solidFill>
                <a:latin typeface="urw-din"/>
              </a:rPr>
              <a:t>”)</a:t>
            </a:r>
          </a:p>
          <a:p>
            <a:endParaRPr lang="en-IN" dirty="0"/>
          </a:p>
        </p:txBody>
      </p:sp>
    </p:spTree>
    <p:extLst>
      <p:ext uri="{BB962C8B-B14F-4D97-AF65-F5344CB8AC3E}">
        <p14:creationId xmlns:p14="http://schemas.microsoft.com/office/powerpoint/2010/main" val="77230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1673" y="124692"/>
            <a:ext cx="11790218" cy="6463308"/>
          </a:xfrm>
          <a:prstGeom prst="rect">
            <a:avLst/>
          </a:prstGeom>
          <a:noFill/>
        </p:spPr>
        <p:txBody>
          <a:bodyPr wrap="square" rtlCol="0">
            <a:spAutoFit/>
          </a:bodyPr>
          <a:lstStyle/>
          <a:p>
            <a:r>
              <a:rPr lang="en-US" b="1" dirty="0">
                <a:latin typeface="urw-din"/>
              </a:rPr>
              <a:t>OBJECT ORIENTED PROGRAMING (OOPS)</a:t>
            </a:r>
            <a:br>
              <a:rPr lang="en-US" b="1" dirty="0">
                <a:latin typeface="urw-din"/>
              </a:rPr>
            </a:br>
            <a:r>
              <a:rPr lang="en-US" b="1" dirty="0">
                <a:latin typeface="urw-din"/>
              </a:rPr>
              <a:t>1.CLASS AND OBJECT</a:t>
            </a:r>
            <a:br>
              <a:rPr lang="en-US" b="1" dirty="0">
                <a:latin typeface="urw-din"/>
              </a:rPr>
            </a:br>
            <a:r>
              <a:rPr lang="en-US" dirty="0">
                <a:latin typeface="urw-din"/>
              </a:rPr>
              <a:t>classes provide a means of bundling data and functionality together. Creating a new class creates a new type of object, allowing new instances of that type to be made. Each class instance can have attributes attached to it for maintaining its state. Class instances can also have methods (defined by their class) for modifying their state</a:t>
            </a:r>
            <a:r>
              <a:rPr lang="en-US" dirty="0" smtClean="0">
                <a:latin typeface="urw-din"/>
              </a:rPr>
              <a:t>.</a:t>
            </a:r>
          </a:p>
          <a:p>
            <a:r>
              <a:rPr lang="en-US" dirty="0">
                <a:latin typeface="urw-din"/>
              </a:rPr>
              <a:t/>
            </a:r>
            <a:br>
              <a:rPr lang="en-US" dirty="0">
                <a:latin typeface="urw-din"/>
              </a:rPr>
            </a:br>
            <a:r>
              <a:rPr lang="en-US" b="1" dirty="0" smtClean="0">
                <a:latin typeface="urw-din"/>
              </a:rPr>
              <a:t>2.CONSTRUCTOR</a:t>
            </a:r>
            <a:r>
              <a:rPr lang="en-US" dirty="0">
                <a:latin typeface="urw-din"/>
              </a:rPr>
              <a:t/>
            </a:r>
            <a:br>
              <a:rPr lang="en-US" dirty="0">
                <a:latin typeface="urw-din"/>
              </a:rPr>
            </a:br>
            <a:r>
              <a:rPr lang="en-US" dirty="0">
                <a:solidFill>
                  <a:srgbClr val="273239"/>
                </a:solidFill>
                <a:latin typeface="urw-din"/>
              </a:rPr>
              <a:t>In Python the __</a:t>
            </a:r>
            <a:r>
              <a:rPr lang="en-US" dirty="0" err="1">
                <a:solidFill>
                  <a:srgbClr val="273239"/>
                </a:solidFill>
                <a:latin typeface="urw-din"/>
              </a:rPr>
              <a:t>init</a:t>
            </a:r>
            <a:r>
              <a:rPr lang="en-US" dirty="0">
                <a:solidFill>
                  <a:srgbClr val="273239"/>
                </a:solidFill>
                <a:latin typeface="urw-din"/>
              </a:rPr>
              <a:t>__() method is called the constructor and is always called when an object is created</a:t>
            </a:r>
            <a:r>
              <a:rPr lang="en-US" dirty="0" smtClean="0">
                <a:solidFill>
                  <a:srgbClr val="273239"/>
                </a:solidFill>
                <a:latin typeface="urw-din"/>
              </a:rPr>
              <a:t>.</a:t>
            </a:r>
            <a:r>
              <a:rPr lang="en-US" dirty="0">
                <a:latin typeface="urw-din"/>
              </a:rPr>
              <a:t> </a:t>
            </a:r>
            <a:br>
              <a:rPr lang="en-US" dirty="0">
                <a:latin typeface="urw-din"/>
              </a:rPr>
            </a:br>
            <a:r>
              <a:rPr lang="en-US" dirty="0" smtClean="0">
                <a:latin typeface="urw-din"/>
              </a:rPr>
              <a:t>      </a:t>
            </a:r>
            <a:r>
              <a:rPr lang="en-US" b="1" dirty="0" smtClean="0">
                <a:latin typeface="urw-din"/>
              </a:rPr>
              <a:t>default </a:t>
            </a:r>
            <a:r>
              <a:rPr lang="en-US" b="1" dirty="0">
                <a:latin typeface="urw-din"/>
              </a:rPr>
              <a:t>constructor:</a:t>
            </a:r>
            <a:r>
              <a:rPr lang="en-US" dirty="0">
                <a:latin typeface="urw-din"/>
              </a:rPr>
              <a:t> The default constructor is a simple constructor which doesn’t accept any arguments</a:t>
            </a:r>
            <a:br>
              <a:rPr lang="en-US" dirty="0">
                <a:latin typeface="urw-din"/>
              </a:rPr>
            </a:br>
            <a:r>
              <a:rPr lang="en-US" dirty="0" smtClean="0">
                <a:latin typeface="urw-din"/>
              </a:rPr>
              <a:t>      </a:t>
            </a:r>
            <a:r>
              <a:rPr lang="en-US" b="1" dirty="0" smtClean="0">
                <a:latin typeface="urw-din"/>
              </a:rPr>
              <a:t>parameterized </a:t>
            </a:r>
            <a:r>
              <a:rPr lang="en-US" b="1" dirty="0">
                <a:latin typeface="urw-din"/>
              </a:rPr>
              <a:t>constructor:</a:t>
            </a:r>
            <a:r>
              <a:rPr lang="en-US" dirty="0">
                <a:latin typeface="urw-din"/>
              </a:rPr>
              <a:t> constructor with parameters is known as parameterized constructor. The parameterized constructor takes its first argument as a reference to the instance being constructed known as self and the rest of the arguments are provided by the programmer</a:t>
            </a:r>
            <a:r>
              <a:rPr lang="en-US" dirty="0" smtClean="0">
                <a:latin typeface="urw-din"/>
              </a:rPr>
              <a:t>.</a:t>
            </a:r>
          </a:p>
          <a:p>
            <a:endParaRPr lang="en-US" dirty="0" smtClean="0">
              <a:latin typeface="urw-din"/>
            </a:endParaRPr>
          </a:p>
          <a:p>
            <a:r>
              <a:rPr lang="en-US" b="1" dirty="0" smtClean="0">
                <a:latin typeface="urw-din"/>
              </a:rPr>
              <a:t>3.DESTRUCTOR</a:t>
            </a:r>
            <a:r>
              <a:rPr lang="en-US" dirty="0">
                <a:latin typeface="urw-din"/>
              </a:rPr>
              <a:t/>
            </a:r>
            <a:br>
              <a:rPr lang="en-US" dirty="0">
                <a:latin typeface="urw-din"/>
              </a:rPr>
            </a:br>
            <a:r>
              <a:rPr lang="en-US" dirty="0">
                <a:latin typeface="urw-din"/>
              </a:rPr>
              <a:t>Destructors are called when an object gets destroyed. In </a:t>
            </a:r>
            <a:r>
              <a:rPr lang="en-US" dirty="0" smtClean="0">
                <a:latin typeface="urw-din"/>
              </a:rPr>
              <a:t>Python, The</a:t>
            </a:r>
            <a:r>
              <a:rPr lang="en-US" dirty="0">
                <a:latin typeface="urw-din"/>
              </a:rPr>
              <a:t> </a:t>
            </a:r>
            <a:r>
              <a:rPr lang="en-US" b="1" dirty="0">
                <a:latin typeface="urw-din"/>
              </a:rPr>
              <a:t>__</a:t>
            </a:r>
            <a:r>
              <a:rPr lang="en-US" b="1" u="sng" dirty="0">
                <a:latin typeface="urw-din"/>
                <a:hlinkClick r:id="rId2"/>
              </a:rPr>
              <a:t>del</a:t>
            </a:r>
            <a:r>
              <a:rPr lang="en-US" b="1" dirty="0">
                <a:latin typeface="urw-din"/>
              </a:rPr>
              <a:t>__()</a:t>
            </a:r>
            <a:r>
              <a:rPr lang="en-US" dirty="0">
                <a:latin typeface="urw-din"/>
              </a:rPr>
              <a:t> method is a known as a destructor method in Python. It is called when all references to the object have been </a:t>
            </a:r>
            <a:r>
              <a:rPr lang="en-US" dirty="0" smtClean="0">
                <a:latin typeface="urw-din"/>
              </a:rPr>
              <a:t>deleted.</a:t>
            </a:r>
          </a:p>
          <a:p>
            <a:endParaRPr lang="en-US" b="1" dirty="0" smtClean="0">
              <a:latin typeface="urw-din"/>
            </a:endParaRPr>
          </a:p>
          <a:p>
            <a:r>
              <a:rPr lang="en-US" b="1" dirty="0" smtClean="0">
                <a:latin typeface="urw-din"/>
              </a:rPr>
              <a:t>4.INHERITANCE </a:t>
            </a:r>
          </a:p>
          <a:p>
            <a:r>
              <a:rPr lang="en-US" dirty="0" smtClean="0">
                <a:latin typeface="urw-din"/>
              </a:rPr>
              <a:t>Inheritance </a:t>
            </a:r>
            <a:r>
              <a:rPr lang="en-US" dirty="0">
                <a:latin typeface="urw-din"/>
              </a:rPr>
              <a:t>is the capability of one class to derive or inherit the properties from another class. </a:t>
            </a:r>
            <a:br>
              <a:rPr lang="en-US" dirty="0">
                <a:latin typeface="urw-din"/>
              </a:rPr>
            </a:br>
            <a:r>
              <a:rPr lang="en-US" dirty="0" smtClean="0">
                <a:latin typeface="urw-din"/>
              </a:rPr>
              <a:t>It </a:t>
            </a:r>
            <a:r>
              <a:rPr lang="en-US" dirty="0">
                <a:latin typeface="urw-din"/>
              </a:rPr>
              <a:t>represents real-world relationships well.</a:t>
            </a:r>
            <a:br>
              <a:rPr lang="en-US" dirty="0">
                <a:latin typeface="urw-din"/>
              </a:rPr>
            </a:br>
            <a:r>
              <a:rPr lang="en-US" dirty="0">
                <a:latin typeface="urw-din"/>
              </a:rPr>
              <a:t>It provides the </a:t>
            </a:r>
            <a:r>
              <a:rPr lang="en-US" b="1" dirty="0">
                <a:latin typeface="urw-din"/>
              </a:rPr>
              <a:t>reusability</a:t>
            </a:r>
            <a:r>
              <a:rPr lang="en-US" dirty="0">
                <a:latin typeface="urw-din"/>
              </a:rPr>
              <a:t> of a code. We don’t have to write the same code again and again. Also, it allows us to add more features to a class without modifying it</a:t>
            </a:r>
            <a:r>
              <a:rPr lang="en-US" dirty="0" smtClean="0">
                <a:latin typeface="urw-din"/>
              </a:rPr>
              <a:t>. </a:t>
            </a:r>
            <a:r>
              <a:rPr lang="en-US" dirty="0">
                <a:latin typeface="urw-din"/>
              </a:rPr>
              <a:t>which means that if class B inherits from another class A, then all the subclasses of B would automatically inherit from class A</a:t>
            </a:r>
            <a:r>
              <a:rPr lang="en-US" dirty="0" smtClean="0">
                <a:latin typeface="urw-din"/>
              </a:rPr>
              <a:t>.</a:t>
            </a:r>
            <a:endParaRPr lang="en-IN" dirty="0"/>
          </a:p>
        </p:txBody>
      </p:sp>
    </p:spTree>
    <p:extLst>
      <p:ext uri="{BB962C8B-B14F-4D97-AF65-F5344CB8AC3E}">
        <p14:creationId xmlns:p14="http://schemas.microsoft.com/office/powerpoint/2010/main" val="3052591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1291" y="0"/>
            <a:ext cx="5320709" cy="2590800"/>
          </a:xfrm>
          <a:prstGeom prst="rect">
            <a:avLst/>
          </a:prstGeom>
        </p:spPr>
      </p:pic>
      <p:sp>
        <p:nvSpPr>
          <p:cNvPr id="7" name="Rectangle 6"/>
          <p:cNvSpPr/>
          <p:nvPr/>
        </p:nvSpPr>
        <p:spPr>
          <a:xfrm>
            <a:off x="130772" y="95070"/>
            <a:ext cx="6740518" cy="7017306"/>
          </a:xfrm>
          <a:prstGeom prst="rect">
            <a:avLst/>
          </a:prstGeom>
        </p:spPr>
        <p:txBody>
          <a:bodyPr wrap="square">
            <a:spAutoFit/>
          </a:bodyPr>
          <a:lstStyle/>
          <a:p>
            <a:pPr fontAlgn="base"/>
            <a:r>
              <a:rPr lang="en-US" b="1" dirty="0" smtClean="0">
                <a:solidFill>
                  <a:srgbClr val="273239"/>
                </a:solidFill>
                <a:latin typeface="urw-din"/>
              </a:rPr>
              <a:t>TYPES OF INHERITANCE</a:t>
            </a:r>
          </a:p>
          <a:p>
            <a:pPr fontAlgn="base"/>
            <a:endParaRPr lang="en-US" b="1" dirty="0" smtClean="0">
              <a:solidFill>
                <a:srgbClr val="273239"/>
              </a:solidFill>
              <a:latin typeface="urw-din"/>
            </a:endParaRPr>
          </a:p>
          <a:p>
            <a:pPr fontAlgn="base"/>
            <a:r>
              <a:rPr lang="en-US" b="1" dirty="0" smtClean="0">
                <a:solidFill>
                  <a:srgbClr val="273239"/>
                </a:solidFill>
                <a:latin typeface="urw-din"/>
              </a:rPr>
              <a:t>1.Single </a:t>
            </a:r>
            <a:r>
              <a:rPr lang="en-US" b="1" dirty="0">
                <a:solidFill>
                  <a:srgbClr val="273239"/>
                </a:solidFill>
                <a:latin typeface="urw-din"/>
              </a:rPr>
              <a:t>Inheritance: </a:t>
            </a:r>
          </a:p>
          <a:p>
            <a:pPr fontAlgn="base"/>
            <a:r>
              <a:rPr lang="en-US" dirty="0">
                <a:solidFill>
                  <a:srgbClr val="273239"/>
                </a:solidFill>
                <a:latin typeface="urw-din"/>
              </a:rPr>
              <a:t>Single inheritance enables a derived class to inherit properties from a single parent class, thus enabling code reusability and the addition of new features to existing code</a:t>
            </a:r>
            <a:r>
              <a:rPr lang="en-US" dirty="0" smtClean="0">
                <a:solidFill>
                  <a:srgbClr val="273239"/>
                </a:solidFill>
                <a:latin typeface="urw-din"/>
              </a:rPr>
              <a:t>.</a:t>
            </a:r>
            <a:endParaRPr lang="en-US" dirty="0">
              <a:solidFill>
                <a:srgbClr val="273239"/>
              </a:solidFill>
              <a:latin typeface="urw-din"/>
            </a:endParaRPr>
          </a:p>
          <a:p>
            <a:pPr fontAlgn="base"/>
            <a:endParaRPr lang="en-US" b="0" i="0" dirty="0" smtClean="0">
              <a:solidFill>
                <a:srgbClr val="273239"/>
              </a:solidFill>
              <a:effectLst/>
              <a:latin typeface="urw-din"/>
            </a:endParaRPr>
          </a:p>
          <a:p>
            <a:pPr fontAlgn="base"/>
            <a:r>
              <a:rPr lang="en-US" b="1" dirty="0" smtClean="0">
                <a:latin typeface="urw-din"/>
              </a:rPr>
              <a:t>2.Multiple </a:t>
            </a:r>
            <a:r>
              <a:rPr lang="en-US" b="1" dirty="0">
                <a:latin typeface="urw-din"/>
              </a:rPr>
              <a:t>Inheritance: </a:t>
            </a:r>
          </a:p>
          <a:p>
            <a:pPr fontAlgn="base"/>
            <a:r>
              <a:rPr lang="en-US" dirty="0">
                <a:latin typeface="urw-din"/>
              </a:rPr>
              <a:t>When a class can be derived from more than one base class this type of inheritance is called multiple inheritances. In multiple inheritances, all the features of the base classes are inherited into the derived class. </a:t>
            </a:r>
          </a:p>
          <a:p>
            <a:pPr fontAlgn="base"/>
            <a:endParaRPr lang="en-US" b="0" i="0" dirty="0">
              <a:solidFill>
                <a:srgbClr val="273239"/>
              </a:solidFill>
              <a:effectLst/>
              <a:latin typeface="urw-din"/>
            </a:endParaRPr>
          </a:p>
          <a:p>
            <a:pPr fontAlgn="base"/>
            <a:r>
              <a:rPr lang="en-US" b="1" dirty="0" smtClean="0">
                <a:latin typeface="urw-din"/>
              </a:rPr>
              <a:t>3.Multilevel </a:t>
            </a:r>
            <a:r>
              <a:rPr lang="en-US" b="1" dirty="0">
                <a:latin typeface="urw-din"/>
              </a:rPr>
              <a:t>Inheritance :</a:t>
            </a:r>
          </a:p>
          <a:p>
            <a:pPr fontAlgn="base"/>
            <a:r>
              <a:rPr lang="en-US" dirty="0">
                <a:latin typeface="urw-din"/>
              </a:rPr>
              <a:t>In multilevel inheritance, features of the base class and the derived class are further inherited into the new derived class. This is similar to a relationship representing a child and a grandfather. </a:t>
            </a:r>
          </a:p>
          <a:p>
            <a:pPr fontAlgn="base"/>
            <a:endParaRPr lang="en-US" b="0" i="0" dirty="0" smtClean="0">
              <a:solidFill>
                <a:srgbClr val="273239"/>
              </a:solidFill>
              <a:effectLst/>
              <a:latin typeface="urw-din"/>
            </a:endParaRPr>
          </a:p>
          <a:p>
            <a:pPr fontAlgn="base"/>
            <a:r>
              <a:rPr lang="en-US" b="1" dirty="0" smtClean="0">
                <a:latin typeface="urw-din"/>
              </a:rPr>
              <a:t>4.Hierarchical </a:t>
            </a:r>
            <a:r>
              <a:rPr lang="en-US" b="1" dirty="0">
                <a:latin typeface="urw-din"/>
              </a:rPr>
              <a:t>Inheritance: </a:t>
            </a:r>
          </a:p>
          <a:p>
            <a:pPr fontAlgn="base"/>
            <a:r>
              <a:rPr lang="en-US" dirty="0">
                <a:latin typeface="urw-din"/>
              </a:rPr>
              <a:t>When more than one derived class are created from a single base this type of inheritance is called hierarchical inheritance. In this program, we have a parent (base) class and two child (derived) classes.</a:t>
            </a:r>
          </a:p>
          <a:p>
            <a:pPr fontAlgn="base"/>
            <a:endParaRPr lang="en-US" b="0" i="0" dirty="0">
              <a:solidFill>
                <a:srgbClr val="273239"/>
              </a:solidFill>
              <a:effectLst/>
              <a:latin typeface="urw-din"/>
            </a:endParaRPr>
          </a:p>
        </p:txBody>
      </p:sp>
      <p:sp>
        <p:nvSpPr>
          <p:cNvPr id="8" name="TextBox 7"/>
          <p:cNvSpPr txBox="1"/>
          <p:nvPr/>
        </p:nvSpPr>
        <p:spPr>
          <a:xfrm>
            <a:off x="7294136" y="3371579"/>
            <a:ext cx="4475018" cy="923330"/>
          </a:xfrm>
          <a:prstGeom prst="rect">
            <a:avLst/>
          </a:prstGeom>
          <a:noFill/>
        </p:spPr>
        <p:txBody>
          <a:bodyPr wrap="square" rtlCol="0">
            <a:spAutoFit/>
          </a:bodyPr>
          <a:lstStyle/>
          <a:p>
            <a:pPr fontAlgn="base"/>
            <a:r>
              <a:rPr lang="en-US" b="1" dirty="0" smtClean="0">
                <a:latin typeface="urw-din"/>
              </a:rPr>
              <a:t>5.Hybrid </a:t>
            </a:r>
            <a:r>
              <a:rPr lang="en-US" b="1" dirty="0">
                <a:latin typeface="urw-din"/>
              </a:rPr>
              <a:t>Inheritance: </a:t>
            </a:r>
          </a:p>
          <a:p>
            <a:pPr fontAlgn="base"/>
            <a:r>
              <a:rPr lang="en-US" dirty="0">
                <a:latin typeface="urw-din"/>
              </a:rPr>
              <a:t>Inheritance consisting of multiple types of inheritance is called hybrid inheritance</a:t>
            </a:r>
            <a:r>
              <a:rPr lang="en-US" dirty="0"/>
              <a:t>.</a:t>
            </a:r>
          </a:p>
        </p:txBody>
      </p:sp>
    </p:spTree>
    <p:extLst>
      <p:ext uri="{BB962C8B-B14F-4D97-AF65-F5344CB8AC3E}">
        <p14:creationId xmlns:p14="http://schemas.microsoft.com/office/powerpoint/2010/main" val="4569798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8655" y="332509"/>
            <a:ext cx="11610109" cy="5632311"/>
          </a:xfrm>
          <a:prstGeom prst="rect">
            <a:avLst/>
          </a:prstGeom>
          <a:noFill/>
        </p:spPr>
        <p:txBody>
          <a:bodyPr wrap="square" rtlCol="0">
            <a:spAutoFit/>
          </a:bodyPr>
          <a:lstStyle/>
          <a:p>
            <a:r>
              <a:rPr lang="en-US" b="1" dirty="0" smtClean="0">
                <a:latin typeface="urw-din"/>
              </a:rPr>
              <a:t>5.ENCAPSULATION</a:t>
            </a:r>
          </a:p>
          <a:p>
            <a:r>
              <a:rPr lang="en-US" dirty="0" smtClean="0">
                <a:latin typeface="urw-din"/>
              </a:rPr>
              <a:t>Encapsulation </a:t>
            </a:r>
            <a:r>
              <a:rPr lang="en-US" dirty="0">
                <a:latin typeface="urw-din"/>
              </a:rPr>
              <a:t>is one of the fundamental concepts in object-oriented programming (OOP). It describes the idea of wrapping data and the methods that work on data within one unit. This puts restrictions on accessing variables and methods directly and can prevent the accidental modification of data. To prevent accidental change, an object’s variable can only be changed by an object’s method. Those types of variables are known as private variables</a:t>
            </a:r>
            <a:r>
              <a:rPr lang="en-US" dirty="0" smtClean="0">
                <a:latin typeface="urw-din"/>
              </a:rPr>
              <a:t>.</a:t>
            </a:r>
          </a:p>
          <a:p>
            <a:r>
              <a:rPr lang="en-US" b="1" dirty="0" smtClean="0">
                <a:latin typeface="urw-din"/>
              </a:rPr>
              <a:t>       protected members - </a:t>
            </a:r>
            <a:r>
              <a:rPr lang="en-US" dirty="0" smtClean="0">
                <a:latin typeface="urw-din"/>
              </a:rPr>
              <a:t>Protected </a:t>
            </a:r>
            <a:r>
              <a:rPr lang="en-US" dirty="0">
                <a:latin typeface="urw-din"/>
              </a:rPr>
              <a:t>members (in C++ and JAVA) are those members of the class that cannot be accessed outside the class but can be accessed from within the class and its subclasses. To accomplish this in Python, just follow </a:t>
            </a:r>
            <a:r>
              <a:rPr lang="en-US" b="1" dirty="0">
                <a:latin typeface="urw-din"/>
              </a:rPr>
              <a:t>the convention</a:t>
            </a:r>
            <a:r>
              <a:rPr lang="en-US" dirty="0">
                <a:latin typeface="urw-din"/>
              </a:rPr>
              <a:t> by prefixing the name of the member by a single underscore </a:t>
            </a:r>
            <a:r>
              <a:rPr lang="en-US" dirty="0" smtClean="0">
                <a:latin typeface="urw-din"/>
              </a:rPr>
              <a:t>“_”.</a:t>
            </a:r>
          </a:p>
          <a:p>
            <a:r>
              <a:rPr lang="en-US" b="1" dirty="0" smtClean="0">
                <a:latin typeface="urw-din"/>
              </a:rPr>
              <a:t>      private members </a:t>
            </a:r>
            <a:r>
              <a:rPr lang="en-US" dirty="0" smtClean="0">
                <a:latin typeface="urw-din"/>
              </a:rPr>
              <a:t>- Private </a:t>
            </a:r>
            <a:r>
              <a:rPr lang="en-US" dirty="0">
                <a:latin typeface="urw-din"/>
              </a:rPr>
              <a:t>members are similar to protected members, the difference is that the class members declared private should neither be accessed outside the class nor by any base class. In Python, there is no existence of </a:t>
            </a:r>
            <a:r>
              <a:rPr lang="en-US" b="1" dirty="0">
                <a:latin typeface="urw-din"/>
              </a:rPr>
              <a:t>Private </a:t>
            </a:r>
            <a:r>
              <a:rPr lang="en-US" dirty="0">
                <a:latin typeface="urw-din"/>
              </a:rPr>
              <a:t>instance variables that cannot be accessed except inside a class</a:t>
            </a:r>
            <a:r>
              <a:rPr lang="en-US" dirty="0" smtClean="0">
                <a:latin typeface="urw-din"/>
              </a:rPr>
              <a:t>.</a:t>
            </a:r>
          </a:p>
          <a:p>
            <a:endParaRPr lang="en-US" b="1" dirty="0" smtClean="0">
              <a:latin typeface="urw-din"/>
            </a:endParaRPr>
          </a:p>
          <a:p>
            <a:r>
              <a:rPr lang="en-US" b="1" dirty="0" smtClean="0">
                <a:latin typeface="urw-din"/>
              </a:rPr>
              <a:t>6. POLYMORPHISM:</a:t>
            </a:r>
          </a:p>
          <a:p>
            <a:r>
              <a:rPr lang="en-US" b="1" dirty="0">
                <a:latin typeface="urw-din"/>
              </a:rPr>
              <a:t> </a:t>
            </a:r>
            <a:r>
              <a:rPr lang="en-US" dirty="0" smtClean="0">
                <a:latin typeface="urw-din"/>
              </a:rPr>
              <a:t> The </a:t>
            </a:r>
            <a:r>
              <a:rPr lang="en-US" dirty="0">
                <a:latin typeface="urw-din"/>
              </a:rPr>
              <a:t>word polymorphism means having many forms. In programming, polymorphism means the same function name (but different signatures) being used for different types</a:t>
            </a:r>
            <a:r>
              <a:rPr lang="en-US" dirty="0" smtClean="0">
                <a:latin typeface="urw-din"/>
              </a:rPr>
              <a:t>.</a:t>
            </a:r>
          </a:p>
          <a:p>
            <a:endParaRPr lang="en-US" b="1" dirty="0" smtClean="0">
              <a:latin typeface="urw-din"/>
            </a:endParaRPr>
          </a:p>
          <a:p>
            <a:r>
              <a:rPr lang="en-US" b="1" dirty="0" smtClean="0">
                <a:latin typeface="urw-din"/>
              </a:rPr>
              <a:t>7.CLASS AND STATIC </a:t>
            </a:r>
            <a:endParaRPr lang="en-US" b="1" dirty="0">
              <a:latin typeface="urw-din"/>
            </a:endParaRPr>
          </a:p>
          <a:p>
            <a:r>
              <a:rPr lang="en-US" dirty="0" smtClean="0">
                <a:latin typeface="urw-din"/>
              </a:rPr>
              <a:t>         All </a:t>
            </a:r>
            <a:r>
              <a:rPr lang="en-US" dirty="0">
                <a:latin typeface="urw-din"/>
              </a:rPr>
              <a:t>objects share class or static variables. An instance or non-static variables are different for different objects (every object has a copy). </a:t>
            </a:r>
            <a:r>
              <a:rPr lang="en-US" dirty="0" smtClean="0">
                <a:latin typeface="urw-din"/>
              </a:rPr>
              <a:t> </a:t>
            </a:r>
            <a:endParaRPr lang="en-IN" dirty="0">
              <a:latin typeface="urw-din"/>
            </a:endParaRPr>
          </a:p>
        </p:txBody>
      </p:sp>
    </p:spTree>
    <p:extLst>
      <p:ext uri="{BB962C8B-B14F-4D97-AF65-F5344CB8AC3E}">
        <p14:creationId xmlns:p14="http://schemas.microsoft.com/office/powerpoint/2010/main" val="1416480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048" y="153571"/>
            <a:ext cx="11509606" cy="6232475"/>
          </a:xfrm>
          <a:prstGeom prst="rect">
            <a:avLst/>
          </a:prstGeom>
          <a:noFill/>
        </p:spPr>
        <p:txBody>
          <a:bodyPr wrap="square" rtlCol="0">
            <a:spAutoFit/>
          </a:bodyPr>
          <a:lstStyle/>
          <a:p>
            <a:pPr fontAlgn="base"/>
            <a:r>
              <a:rPr lang="en-US" sz="2400" dirty="0" smtClean="0">
                <a:latin typeface="urw-din"/>
              </a:rPr>
              <a:t>  	 	</a:t>
            </a:r>
            <a:r>
              <a:rPr lang="en-US" sz="2400" dirty="0" smtClean="0">
                <a:solidFill>
                  <a:schemeClr val="accent6"/>
                </a:solidFill>
                <a:latin typeface="urw-din"/>
              </a:rPr>
              <a:t>        PYTHON QUESTIONS AND ANSWERS </a:t>
            </a:r>
          </a:p>
          <a:p>
            <a:pPr fontAlgn="base"/>
            <a:endParaRPr lang="en-US" dirty="0">
              <a:latin typeface="urw-din"/>
            </a:endParaRPr>
          </a:p>
          <a:p>
            <a:pPr fontAlgn="base"/>
            <a:r>
              <a:rPr lang="en-US" b="1" dirty="0" smtClean="0">
                <a:latin typeface="urw-din"/>
              </a:rPr>
              <a:t>1 .What </a:t>
            </a:r>
            <a:r>
              <a:rPr lang="en-US" b="1" dirty="0" smtClean="0">
                <a:latin typeface="urw-din"/>
              </a:rPr>
              <a:t>is python? What are the benefits using python?</a:t>
            </a:r>
          </a:p>
          <a:p>
            <a:pPr fontAlgn="base">
              <a:lnSpc>
                <a:spcPct val="150000"/>
              </a:lnSpc>
            </a:pPr>
            <a:r>
              <a:rPr lang="en-US" dirty="0" smtClean="0">
                <a:latin typeface="urw-din"/>
              </a:rPr>
              <a:t>	</a:t>
            </a:r>
            <a:r>
              <a:rPr lang="en-US" dirty="0" smtClean="0">
                <a:cs typeface="Times New Roman" panose="02020603050405020304" pitchFamily="18" charset="0"/>
              </a:rPr>
              <a:t>python </a:t>
            </a:r>
            <a:r>
              <a:rPr lang="en-US" dirty="0">
                <a:cs typeface="Times New Roman" panose="02020603050405020304" pitchFamily="18" charset="0"/>
              </a:rPr>
              <a:t>is a high-level, interpreted, and general-purpose dynamic programming language that focuses on code readability. It generally has small programs when compared to Java and C. It was founded in 1991 by developer Guido Van </a:t>
            </a:r>
            <a:r>
              <a:rPr lang="en-US" dirty="0" err="1">
                <a:cs typeface="Times New Roman" panose="02020603050405020304" pitchFamily="18" charset="0"/>
              </a:rPr>
              <a:t>Rossum</a:t>
            </a:r>
            <a:r>
              <a:rPr lang="en-US" dirty="0">
                <a:cs typeface="Times New Roman" panose="02020603050405020304" pitchFamily="18" charset="0"/>
              </a:rPr>
              <a:t>. Python ranks among the most popular and fastest-growing languages in the world. Python is a powerful, flexible, and easy-to-use language. In addition, the python community is very active. It is used in many organizations as it supports multiple programming paradigms. It also performs automatic memory management</a:t>
            </a:r>
            <a:r>
              <a:rPr lang="en-US" dirty="0" smtClean="0">
                <a:cs typeface="Times New Roman" panose="02020603050405020304" pitchFamily="18" charset="0"/>
              </a:rPr>
              <a:t>.</a:t>
            </a:r>
          </a:p>
          <a:p>
            <a:pPr fontAlgn="base">
              <a:lnSpc>
                <a:spcPct val="150000"/>
              </a:lnSpc>
            </a:pPr>
            <a:endParaRPr lang="en-US" sz="1600" dirty="0">
              <a:latin typeface="urw-din"/>
            </a:endParaRPr>
          </a:p>
          <a:p>
            <a:pPr>
              <a:lnSpc>
                <a:spcPct val="150000"/>
              </a:lnSpc>
            </a:pPr>
            <a:r>
              <a:rPr lang="en-US" b="1" dirty="0">
                <a:latin typeface="urw-din"/>
              </a:rPr>
              <a:t>2.What is the interpreted language?</a:t>
            </a:r>
          </a:p>
          <a:p>
            <a:pPr>
              <a:lnSpc>
                <a:spcPct val="150000"/>
              </a:lnSpc>
            </a:pPr>
            <a:r>
              <a:rPr lang="en-US" b="1" dirty="0"/>
              <a:t>Compiled Language:</a:t>
            </a:r>
            <a:r>
              <a:rPr lang="en-US" dirty="0"/>
              <a:t/>
            </a:r>
            <a:br>
              <a:rPr lang="en-US" dirty="0"/>
            </a:br>
            <a:r>
              <a:rPr lang="en-US" dirty="0"/>
              <a:t>A compiled language is a programming language which are generally compiled </a:t>
            </a:r>
            <a:r>
              <a:rPr lang="en-US" dirty="0" smtClean="0"/>
              <a:t>and</a:t>
            </a:r>
          </a:p>
          <a:p>
            <a:pPr>
              <a:lnSpc>
                <a:spcPct val="150000"/>
              </a:lnSpc>
            </a:pPr>
            <a:r>
              <a:rPr lang="en-US" dirty="0" smtClean="0"/>
              <a:t> </a:t>
            </a:r>
            <a:r>
              <a:rPr lang="en-US" dirty="0"/>
              <a:t>not interpreted. It is one where the program, once compiled, is expressed in the </a:t>
            </a:r>
            <a:r>
              <a:rPr lang="en-US" dirty="0" smtClean="0"/>
              <a:t>instructions</a:t>
            </a:r>
          </a:p>
          <a:p>
            <a:pPr>
              <a:lnSpc>
                <a:spcPct val="150000"/>
              </a:lnSpc>
            </a:pPr>
            <a:r>
              <a:rPr lang="en-US" dirty="0" smtClean="0"/>
              <a:t> </a:t>
            </a:r>
            <a:r>
              <a:rPr lang="en-US" dirty="0"/>
              <a:t>of the target machine; this machine code is undecipherable by humans</a:t>
            </a:r>
            <a:r>
              <a:rPr lang="en-US" dirty="0" smtClean="0"/>
              <a:t>.</a:t>
            </a:r>
          </a:p>
          <a:p>
            <a:pPr>
              <a:lnSpc>
                <a:spcPct val="150000"/>
              </a:lnSpc>
            </a:pPr>
            <a:r>
              <a:rPr lang="en-US" dirty="0" smtClean="0"/>
              <a:t> </a:t>
            </a:r>
            <a:r>
              <a:rPr lang="en-US" dirty="0"/>
              <a:t>Types of compiled language – C, C++, C#, CLEO, COBOL, etc.</a:t>
            </a:r>
          </a:p>
          <a:p>
            <a:pPr fontAlgn="base"/>
            <a:endParaRPr lang="en-IN" dirty="0">
              <a:latin typeface="urw-din"/>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6751" y="3161763"/>
            <a:ext cx="1900644" cy="3696237"/>
          </a:xfrm>
          <a:prstGeom prst="rect">
            <a:avLst/>
          </a:prstGeom>
        </p:spPr>
      </p:pic>
    </p:spTree>
    <p:extLst>
      <p:ext uri="{BB962C8B-B14F-4D97-AF65-F5344CB8AC3E}">
        <p14:creationId xmlns:p14="http://schemas.microsoft.com/office/powerpoint/2010/main" val="3580195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4267" y="203048"/>
            <a:ext cx="9922588" cy="6324808"/>
          </a:xfrm>
          <a:prstGeom prst="rect">
            <a:avLst/>
          </a:prstGeom>
          <a:noFill/>
        </p:spPr>
        <p:txBody>
          <a:bodyPr wrap="square" rtlCol="0">
            <a:spAutoFit/>
          </a:bodyPr>
          <a:lstStyle/>
          <a:p>
            <a:pPr>
              <a:lnSpc>
                <a:spcPct val="150000"/>
              </a:lnSpc>
            </a:pPr>
            <a:r>
              <a:rPr lang="en-US" b="1" dirty="0" smtClean="0"/>
              <a:t>Interpreted  </a:t>
            </a:r>
            <a:r>
              <a:rPr lang="en-US" b="1" dirty="0" smtClean="0"/>
              <a:t>Language?</a:t>
            </a:r>
          </a:p>
          <a:p>
            <a:pPr>
              <a:lnSpc>
                <a:spcPct val="150000"/>
              </a:lnSpc>
            </a:pPr>
            <a:r>
              <a:rPr lang="en-US" dirty="0"/>
              <a:t>An interpreted language is a programming language which are generally interpreted, without compiling a program into machine instructions. It is one where the instructions are not directly executed by the target machine, but instead read and executed by some other program. Interpreted language ranges – JavaScript, Perl, Python, BASIC, etc</a:t>
            </a:r>
            <a:r>
              <a:rPr lang="en-US" dirty="0" smtClean="0"/>
              <a:t>.</a:t>
            </a:r>
          </a:p>
          <a:p>
            <a:pPr>
              <a:lnSpc>
                <a:spcPct val="150000"/>
              </a:lnSpc>
            </a:pPr>
            <a:endParaRPr lang="en-US" b="1" dirty="0" smtClean="0"/>
          </a:p>
          <a:p>
            <a:pPr>
              <a:lnSpc>
                <a:spcPct val="150000"/>
              </a:lnSpc>
            </a:pPr>
            <a:r>
              <a:rPr lang="en-US" b="1" dirty="0" smtClean="0">
                <a:latin typeface="urw-din"/>
              </a:rPr>
              <a:t>3.What </a:t>
            </a:r>
            <a:r>
              <a:rPr lang="en-US" b="1" dirty="0">
                <a:latin typeface="urw-din"/>
              </a:rPr>
              <a:t>is scope in python?</a:t>
            </a:r>
          </a:p>
          <a:p>
            <a:pPr>
              <a:lnSpc>
                <a:spcPct val="150000"/>
              </a:lnSpc>
            </a:pPr>
            <a:r>
              <a:rPr lang="en-US" b="1" dirty="0"/>
              <a:t>Local Scope</a:t>
            </a:r>
          </a:p>
          <a:p>
            <a:pPr>
              <a:lnSpc>
                <a:spcPct val="150000"/>
              </a:lnSpc>
            </a:pPr>
            <a:r>
              <a:rPr lang="en-US" dirty="0"/>
              <a:t>A variable created inside a function belongs to the </a:t>
            </a:r>
            <a:r>
              <a:rPr lang="en-US" i="1" dirty="0"/>
              <a:t>local scope</a:t>
            </a:r>
            <a:r>
              <a:rPr lang="en-US" dirty="0"/>
              <a:t> of that function, and can only be used inside that function.</a:t>
            </a:r>
          </a:p>
          <a:p>
            <a:pPr>
              <a:lnSpc>
                <a:spcPct val="150000"/>
              </a:lnSpc>
            </a:pPr>
            <a:r>
              <a:rPr lang="en-US" b="1" dirty="0"/>
              <a:t>Global Scope</a:t>
            </a:r>
          </a:p>
          <a:p>
            <a:pPr>
              <a:lnSpc>
                <a:spcPct val="150000"/>
              </a:lnSpc>
            </a:pPr>
            <a:r>
              <a:rPr lang="en-US" dirty="0"/>
              <a:t>A variable created in the main body of the Python code is a global variable and belongs to the global scope.</a:t>
            </a:r>
          </a:p>
          <a:p>
            <a:pPr>
              <a:lnSpc>
                <a:spcPct val="150000"/>
              </a:lnSpc>
            </a:pPr>
            <a:r>
              <a:rPr lang="en-US" dirty="0"/>
              <a:t>Global variables are available from within any scope, global and local.</a:t>
            </a:r>
          </a:p>
          <a:p>
            <a:pPr>
              <a:lnSpc>
                <a:spcPct val="150000"/>
              </a:lnSpc>
            </a:pPr>
            <a:endParaRPr lang="en-IN"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6855" y="373123"/>
            <a:ext cx="1777286" cy="3400921"/>
          </a:xfrm>
          <a:prstGeom prst="rect">
            <a:avLst/>
          </a:prstGeom>
        </p:spPr>
      </p:pic>
    </p:spTree>
    <p:extLst>
      <p:ext uri="{BB962C8B-B14F-4D97-AF65-F5344CB8AC3E}">
        <p14:creationId xmlns:p14="http://schemas.microsoft.com/office/powerpoint/2010/main" val="1806741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4908" y="450371"/>
            <a:ext cx="11513712" cy="369332"/>
          </a:xfrm>
          <a:prstGeom prst="rect">
            <a:avLst/>
          </a:prstGeom>
          <a:noFill/>
        </p:spPr>
        <p:txBody>
          <a:bodyPr wrap="square" rtlCol="0">
            <a:spAutoFit/>
          </a:bodyPr>
          <a:lstStyle/>
          <a:p>
            <a:r>
              <a:rPr lang="en-IN" b="1" dirty="0" smtClean="0">
                <a:latin typeface="urw-din"/>
              </a:rPr>
              <a:t>4.What are the list and tuple? what are the key difference in between these two</a:t>
            </a:r>
            <a:endParaRPr lang="en-IN" b="1" dirty="0">
              <a:latin typeface="urw-din"/>
            </a:endParaRPr>
          </a:p>
        </p:txBody>
      </p:sp>
      <p:graphicFrame>
        <p:nvGraphicFramePr>
          <p:cNvPr id="8" name="Table 7"/>
          <p:cNvGraphicFramePr>
            <a:graphicFrameLocks noGrp="1"/>
          </p:cNvGraphicFramePr>
          <p:nvPr>
            <p:extLst>
              <p:ext uri="{D42A27DB-BD31-4B8C-83A1-F6EECF244321}">
                <p14:modId xmlns:p14="http://schemas.microsoft.com/office/powerpoint/2010/main" val="2986627541"/>
              </p:ext>
            </p:extLst>
          </p:nvPr>
        </p:nvGraphicFramePr>
        <p:xfrm>
          <a:off x="1025236" y="1276568"/>
          <a:ext cx="9796384" cy="4960620"/>
        </p:xfrm>
        <a:graphic>
          <a:graphicData uri="http://schemas.openxmlformats.org/drawingml/2006/table">
            <a:tbl>
              <a:tblPr/>
              <a:tblGrid>
                <a:gridCol w="3008502"/>
                <a:gridCol w="3393941"/>
                <a:gridCol w="3393941"/>
              </a:tblGrid>
              <a:tr h="351936">
                <a:tc>
                  <a:txBody>
                    <a:bodyPr/>
                    <a:lstStyle/>
                    <a:p>
                      <a:pPr algn="l" fontAlgn="base"/>
                      <a:r>
                        <a:rPr lang="en-IN" sz="1600" b="0" dirty="0">
                          <a:effectLst/>
                          <a:latin typeface="urw-din"/>
                        </a:rPr>
                        <a:t>SR.NO.</a:t>
                      </a:r>
                    </a:p>
                  </a:txBody>
                  <a:tcPr marL="95250" marR="95250" marT="95250" marB="95250" anchor="ctr">
                    <a:lnL>
                      <a:noFill/>
                    </a:lnL>
                    <a:lnR>
                      <a:noFill/>
                    </a:lnR>
                    <a:lnT>
                      <a:noFill/>
                    </a:lnT>
                    <a:lnB>
                      <a:noFill/>
                    </a:lnB>
                    <a:solidFill>
                      <a:srgbClr val="FFFFFF"/>
                    </a:solidFill>
                  </a:tcPr>
                </a:tc>
                <a:tc>
                  <a:txBody>
                    <a:bodyPr/>
                    <a:lstStyle/>
                    <a:p>
                      <a:pPr algn="l" fontAlgn="base"/>
                      <a:r>
                        <a:rPr lang="en-IN" sz="1600" b="0" dirty="0" smtClean="0">
                          <a:effectLst/>
                          <a:latin typeface="urw-din"/>
                        </a:rPr>
                        <a:t>LIST</a:t>
                      </a:r>
                      <a:endParaRPr lang="en-IN" sz="1600" b="0" dirty="0">
                        <a:effectLst/>
                        <a:latin typeface="urw-din"/>
                      </a:endParaRPr>
                    </a:p>
                  </a:txBody>
                  <a:tcPr marL="95250" marR="95250" marT="95250" marB="95250" anchor="ctr">
                    <a:lnL>
                      <a:noFill/>
                    </a:lnL>
                    <a:lnR>
                      <a:noFill/>
                    </a:lnR>
                    <a:lnT>
                      <a:noFill/>
                    </a:lnT>
                    <a:lnB>
                      <a:noFill/>
                    </a:lnB>
                    <a:solidFill>
                      <a:srgbClr val="FFFFFF"/>
                    </a:solidFill>
                  </a:tcPr>
                </a:tc>
                <a:tc>
                  <a:txBody>
                    <a:bodyPr/>
                    <a:lstStyle/>
                    <a:p>
                      <a:pPr algn="l" fontAlgn="base"/>
                      <a:r>
                        <a:rPr lang="en-IN" sz="1600" b="0" dirty="0" smtClean="0">
                          <a:effectLst/>
                          <a:latin typeface="urw-din"/>
                        </a:rPr>
                        <a:t>TUPLE</a:t>
                      </a:r>
                      <a:endParaRPr lang="en-IN" sz="1600" b="0" dirty="0">
                        <a:effectLst/>
                        <a:latin typeface="urw-din"/>
                      </a:endParaRPr>
                    </a:p>
                  </a:txBody>
                  <a:tcPr marL="95250" marR="95250" marT="95250" marB="95250" anchor="ctr">
                    <a:lnL>
                      <a:noFill/>
                    </a:lnL>
                    <a:lnR>
                      <a:noFill/>
                    </a:lnR>
                    <a:lnT>
                      <a:noFill/>
                    </a:lnT>
                    <a:lnB>
                      <a:noFill/>
                    </a:lnB>
                    <a:solidFill>
                      <a:srgbClr val="FFFFFF"/>
                    </a:solidFill>
                  </a:tcPr>
                </a:tc>
              </a:tr>
              <a:tr h="413680">
                <a:tc>
                  <a:txBody>
                    <a:bodyPr/>
                    <a:lstStyle/>
                    <a:p>
                      <a:pPr algn="l" fontAlgn="base"/>
                      <a:r>
                        <a:rPr lang="en-IN" sz="1600" b="0" dirty="0">
                          <a:effectLst/>
                          <a:latin typeface="urw-din"/>
                        </a:rPr>
                        <a:t>1</a:t>
                      </a:r>
                    </a:p>
                  </a:txBody>
                  <a:tcPr marL="95250" marR="95250" marT="133350" marB="133350" anchor="ctr">
                    <a:lnL>
                      <a:noFill/>
                    </a:lnL>
                    <a:lnR>
                      <a:noFill/>
                    </a:lnR>
                    <a:lnT>
                      <a:noFill/>
                    </a:lnT>
                    <a:lnB>
                      <a:noFill/>
                    </a:lnB>
                    <a:solidFill>
                      <a:srgbClr val="FFFFFF"/>
                    </a:solidFill>
                  </a:tcPr>
                </a:tc>
                <a:tc>
                  <a:txBody>
                    <a:bodyPr/>
                    <a:lstStyle/>
                    <a:p>
                      <a:pPr algn="l" fontAlgn="base"/>
                      <a:r>
                        <a:rPr lang="en-IN" sz="1600" b="0" dirty="0">
                          <a:effectLst/>
                          <a:latin typeface="urw-din"/>
                        </a:rPr>
                        <a:t>Lists are mutable</a:t>
                      </a:r>
                    </a:p>
                  </a:txBody>
                  <a:tcPr marL="95250" marR="95250" marT="133350" marB="133350" anchor="ctr">
                    <a:lnL>
                      <a:noFill/>
                    </a:lnL>
                    <a:lnR>
                      <a:noFill/>
                    </a:lnR>
                    <a:lnT>
                      <a:noFill/>
                    </a:lnT>
                    <a:lnB>
                      <a:noFill/>
                    </a:lnB>
                    <a:solidFill>
                      <a:srgbClr val="FFFFFF"/>
                    </a:solidFill>
                  </a:tcPr>
                </a:tc>
                <a:tc>
                  <a:txBody>
                    <a:bodyPr/>
                    <a:lstStyle/>
                    <a:p>
                      <a:pPr algn="l" fontAlgn="base"/>
                      <a:r>
                        <a:rPr lang="en-IN" sz="1600" b="0">
                          <a:effectLst/>
                          <a:latin typeface="urw-din"/>
                        </a:rPr>
                        <a:t>Tuples are immutable</a:t>
                      </a:r>
                    </a:p>
                  </a:txBody>
                  <a:tcPr marL="95250" marR="95250" marT="133350" marB="133350" anchor="ctr">
                    <a:lnL>
                      <a:noFill/>
                    </a:lnL>
                    <a:lnR>
                      <a:noFill/>
                    </a:lnR>
                    <a:lnT>
                      <a:noFill/>
                    </a:lnT>
                    <a:lnB>
                      <a:noFill/>
                    </a:lnB>
                    <a:solidFill>
                      <a:srgbClr val="FFFFFF"/>
                    </a:solidFill>
                  </a:tcPr>
                </a:tc>
              </a:tr>
              <a:tr h="611258">
                <a:tc>
                  <a:txBody>
                    <a:bodyPr/>
                    <a:lstStyle/>
                    <a:p>
                      <a:pPr algn="l" fontAlgn="base"/>
                      <a:r>
                        <a:rPr lang="en-IN" sz="1600" b="0" dirty="0">
                          <a:effectLst/>
                          <a:latin typeface="urw-din"/>
                        </a:rPr>
                        <a:t>2</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a:effectLst/>
                          <a:latin typeface="urw-din"/>
                        </a:rPr>
                        <a:t>The implication of iterations is Time-consuming</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a:effectLst/>
                          <a:latin typeface="urw-din"/>
                        </a:rPr>
                        <a:t>The implication of iterations is comparatively Faster</a:t>
                      </a:r>
                    </a:p>
                  </a:txBody>
                  <a:tcPr marL="95250" marR="95250" marT="133350" marB="133350" anchor="ctr">
                    <a:lnL>
                      <a:noFill/>
                    </a:lnL>
                    <a:lnR>
                      <a:noFill/>
                    </a:lnR>
                    <a:lnT>
                      <a:noFill/>
                    </a:lnT>
                    <a:lnB>
                      <a:noFill/>
                    </a:lnB>
                    <a:solidFill>
                      <a:srgbClr val="FFFFFF"/>
                    </a:solidFill>
                  </a:tcPr>
                </a:tc>
              </a:tr>
              <a:tr h="808836">
                <a:tc>
                  <a:txBody>
                    <a:bodyPr/>
                    <a:lstStyle/>
                    <a:p>
                      <a:pPr algn="l" fontAlgn="base"/>
                      <a:r>
                        <a:rPr lang="en-IN" sz="1600" b="0" dirty="0">
                          <a:effectLst/>
                          <a:latin typeface="urw-din"/>
                        </a:rPr>
                        <a:t>3</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The list is better for performing operations, such as insertion and deletion.</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a:effectLst/>
                          <a:latin typeface="urw-din"/>
                        </a:rPr>
                        <a:t>Tuple data type is appropriate for accessing the elements</a:t>
                      </a:r>
                    </a:p>
                  </a:txBody>
                  <a:tcPr marL="95250" marR="95250" marT="133350" marB="133350" anchor="ctr">
                    <a:lnL>
                      <a:noFill/>
                    </a:lnL>
                    <a:lnR>
                      <a:noFill/>
                    </a:lnR>
                    <a:lnT>
                      <a:noFill/>
                    </a:lnT>
                    <a:lnB>
                      <a:noFill/>
                    </a:lnB>
                    <a:solidFill>
                      <a:srgbClr val="FFFFFF"/>
                    </a:solidFill>
                  </a:tcPr>
                </a:tc>
              </a:tr>
              <a:tr h="611258">
                <a:tc>
                  <a:txBody>
                    <a:bodyPr/>
                    <a:lstStyle/>
                    <a:p>
                      <a:pPr algn="l" fontAlgn="base"/>
                      <a:r>
                        <a:rPr lang="en-IN" sz="1600" b="0" dirty="0">
                          <a:effectLst/>
                          <a:latin typeface="urw-din"/>
                        </a:rPr>
                        <a:t>4</a:t>
                      </a:r>
                    </a:p>
                  </a:txBody>
                  <a:tcPr marL="95250" marR="95250" marT="133350" marB="133350" anchor="ctr">
                    <a:lnL>
                      <a:noFill/>
                    </a:lnL>
                    <a:lnR>
                      <a:noFill/>
                    </a:lnR>
                    <a:lnT>
                      <a:noFill/>
                    </a:lnT>
                    <a:lnB>
                      <a:noFill/>
                    </a:lnB>
                    <a:solidFill>
                      <a:srgbClr val="FFFFFF"/>
                    </a:solidFill>
                  </a:tcPr>
                </a:tc>
                <a:tc>
                  <a:txBody>
                    <a:bodyPr/>
                    <a:lstStyle/>
                    <a:p>
                      <a:pPr algn="l" fontAlgn="base"/>
                      <a:r>
                        <a:rPr lang="en-IN" sz="1600" b="0" dirty="0">
                          <a:effectLst/>
                          <a:latin typeface="urw-din"/>
                        </a:rPr>
                        <a:t>Lists consume more memory</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Tuple consumes less memory as compared to the list</a:t>
                      </a:r>
                    </a:p>
                  </a:txBody>
                  <a:tcPr marL="95250" marR="95250" marT="133350" marB="133350" anchor="ctr">
                    <a:lnL>
                      <a:noFill/>
                    </a:lnL>
                    <a:lnR>
                      <a:noFill/>
                    </a:lnR>
                    <a:lnT>
                      <a:noFill/>
                    </a:lnT>
                    <a:lnB>
                      <a:noFill/>
                    </a:lnB>
                    <a:solidFill>
                      <a:srgbClr val="FFFFFF"/>
                    </a:solidFill>
                  </a:tcPr>
                </a:tc>
              </a:tr>
              <a:tr h="611258">
                <a:tc>
                  <a:txBody>
                    <a:bodyPr/>
                    <a:lstStyle/>
                    <a:p>
                      <a:pPr algn="l" fontAlgn="base"/>
                      <a:r>
                        <a:rPr lang="en-IN" sz="1600" b="0">
                          <a:effectLst/>
                          <a:latin typeface="urw-din"/>
                        </a:rPr>
                        <a:t>5</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Lists have several built-in methods</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Tuple does not have many built-in methods.</a:t>
                      </a:r>
                    </a:p>
                  </a:txBody>
                  <a:tcPr marL="95250" marR="95250" marT="133350" marB="133350" anchor="ctr">
                    <a:lnL>
                      <a:noFill/>
                    </a:lnL>
                    <a:lnR>
                      <a:noFill/>
                    </a:lnR>
                    <a:lnT>
                      <a:noFill/>
                    </a:lnT>
                    <a:lnB>
                      <a:noFill/>
                    </a:lnB>
                    <a:solidFill>
                      <a:srgbClr val="FFFFFF"/>
                    </a:solidFill>
                  </a:tcPr>
                </a:tc>
              </a:tr>
              <a:tr h="611258">
                <a:tc>
                  <a:txBody>
                    <a:bodyPr/>
                    <a:lstStyle/>
                    <a:p>
                      <a:pPr algn="l" fontAlgn="base"/>
                      <a:r>
                        <a:rPr lang="en-IN" sz="1600" b="0" dirty="0">
                          <a:effectLst/>
                          <a:latin typeface="urw-din"/>
                        </a:rPr>
                        <a:t>6</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The unexpected changes and errors are more likely to occur</a:t>
                      </a:r>
                    </a:p>
                  </a:txBody>
                  <a:tcPr marL="95250" marR="95250" marT="133350" marB="133350" anchor="ctr">
                    <a:lnL>
                      <a:noFill/>
                    </a:lnL>
                    <a:lnR>
                      <a:noFill/>
                    </a:lnR>
                    <a:lnT>
                      <a:noFill/>
                    </a:lnT>
                    <a:lnB>
                      <a:noFill/>
                    </a:lnB>
                    <a:solidFill>
                      <a:srgbClr val="FFFFFF"/>
                    </a:solidFill>
                  </a:tcPr>
                </a:tc>
                <a:tc>
                  <a:txBody>
                    <a:bodyPr/>
                    <a:lstStyle/>
                    <a:p>
                      <a:pPr algn="l" fontAlgn="base"/>
                      <a:r>
                        <a:rPr lang="en-US" sz="1600" b="0" dirty="0">
                          <a:effectLst/>
                          <a:latin typeface="urw-din"/>
                        </a:rPr>
                        <a:t>In tuple, it is hard to take place.</a:t>
                      </a:r>
                    </a:p>
                  </a:txBody>
                  <a:tcPr marL="95250" marR="95250" marT="133350" marB="133350"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2926691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388" y="450376"/>
            <a:ext cx="184731" cy="369332"/>
          </a:xfrm>
          <a:prstGeom prst="rect">
            <a:avLst/>
          </a:prstGeom>
          <a:noFill/>
        </p:spPr>
        <p:txBody>
          <a:bodyPr wrap="none" rtlCol="0">
            <a:spAutoFit/>
          </a:bodyPr>
          <a:lstStyle/>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892709062"/>
              </p:ext>
            </p:extLst>
          </p:nvPr>
        </p:nvGraphicFramePr>
        <p:xfrm>
          <a:off x="682388" y="450376"/>
          <a:ext cx="9111089" cy="3576000"/>
        </p:xfrm>
        <a:graphic>
          <a:graphicData uri="http://schemas.openxmlformats.org/drawingml/2006/table">
            <a:tbl>
              <a:tblPr/>
              <a:tblGrid>
                <a:gridCol w="1726791"/>
                <a:gridCol w="7384298"/>
              </a:tblGrid>
              <a:tr h="346323">
                <a:tc>
                  <a:txBody>
                    <a:bodyPr/>
                    <a:lstStyle/>
                    <a:p>
                      <a:pPr algn="l" fontAlgn="t"/>
                      <a:r>
                        <a:rPr lang="en-IN" sz="1800" dirty="0">
                          <a:effectLst/>
                        </a:rPr>
                        <a:t>Text Type:</a:t>
                      </a:r>
                    </a:p>
                  </a:txBody>
                  <a:tcPr marL="147005" marR="73502" marT="73502" marB="73502">
                    <a:lnL>
                      <a:noFill/>
                    </a:lnL>
                    <a:lnR>
                      <a:noFill/>
                    </a:lnR>
                    <a:lnT>
                      <a:noFill/>
                    </a:lnT>
                    <a:lnB>
                      <a:noFill/>
                    </a:lnB>
                    <a:solidFill>
                      <a:srgbClr val="FFFFFF"/>
                    </a:solidFill>
                  </a:tcPr>
                </a:tc>
                <a:tc>
                  <a:txBody>
                    <a:bodyPr/>
                    <a:lstStyle/>
                    <a:p>
                      <a:pPr algn="l" fontAlgn="t"/>
                      <a:r>
                        <a:rPr lang="en-IN" sz="1800" dirty="0" err="1">
                          <a:effectLst/>
                        </a:rPr>
                        <a:t>str</a:t>
                      </a:r>
                      <a:endParaRPr lang="en-IN" sz="1800" dirty="0">
                        <a:effectLst/>
                      </a:endParaRPr>
                    </a:p>
                  </a:txBody>
                  <a:tcPr marL="73502" marR="73502" marT="73502" marB="73502">
                    <a:lnL>
                      <a:noFill/>
                    </a:lnL>
                    <a:lnR>
                      <a:noFill/>
                    </a:lnR>
                    <a:lnT>
                      <a:noFill/>
                    </a:lnT>
                    <a:lnB>
                      <a:noFill/>
                    </a:lnB>
                    <a:solidFill>
                      <a:srgbClr val="FFFFFF"/>
                    </a:solidFill>
                  </a:tcPr>
                </a:tc>
              </a:tr>
              <a:tr h="509427">
                <a:tc>
                  <a:txBody>
                    <a:bodyPr/>
                    <a:lstStyle/>
                    <a:p>
                      <a:pPr algn="l" fontAlgn="t"/>
                      <a:r>
                        <a:rPr lang="en-IN" sz="1800" dirty="0">
                          <a:effectLst/>
                        </a:rPr>
                        <a:t>Numeric Types:</a:t>
                      </a:r>
                    </a:p>
                  </a:txBody>
                  <a:tcPr marL="147005" marR="73502" marT="73502" marB="73502">
                    <a:lnL>
                      <a:noFill/>
                    </a:lnL>
                    <a:lnR>
                      <a:noFill/>
                    </a:lnR>
                    <a:lnT>
                      <a:noFill/>
                    </a:lnT>
                    <a:lnB>
                      <a:noFill/>
                    </a:lnB>
                    <a:solidFill>
                      <a:srgbClr val="FFFFFF"/>
                    </a:solidFill>
                  </a:tcPr>
                </a:tc>
                <a:tc>
                  <a:txBody>
                    <a:bodyPr/>
                    <a:lstStyle/>
                    <a:p>
                      <a:pPr algn="l" fontAlgn="t"/>
                      <a:r>
                        <a:rPr lang="en-IN" sz="1800" dirty="0" err="1">
                          <a:effectLst/>
                        </a:rPr>
                        <a:t>int</a:t>
                      </a:r>
                      <a:r>
                        <a:rPr lang="en-IN" sz="1800" dirty="0">
                          <a:effectLst/>
                        </a:rPr>
                        <a:t>, float, complex</a:t>
                      </a:r>
                    </a:p>
                  </a:txBody>
                  <a:tcPr marL="73502" marR="73502" marT="73502" marB="73502">
                    <a:lnL>
                      <a:noFill/>
                    </a:lnL>
                    <a:lnR>
                      <a:noFill/>
                    </a:lnR>
                    <a:lnT>
                      <a:noFill/>
                    </a:lnT>
                    <a:lnB>
                      <a:noFill/>
                    </a:lnB>
                    <a:solidFill>
                      <a:srgbClr val="FFFFFF"/>
                    </a:solidFill>
                  </a:tcPr>
                </a:tc>
              </a:tr>
              <a:tr h="567276">
                <a:tc>
                  <a:txBody>
                    <a:bodyPr/>
                    <a:lstStyle/>
                    <a:p>
                      <a:pPr algn="l" fontAlgn="t"/>
                      <a:r>
                        <a:rPr lang="en-IN" sz="1800" dirty="0">
                          <a:effectLst/>
                        </a:rPr>
                        <a:t>Sequence Types:</a:t>
                      </a:r>
                    </a:p>
                  </a:txBody>
                  <a:tcPr marL="147005" marR="73502" marT="73502" marB="73502">
                    <a:lnL>
                      <a:noFill/>
                    </a:lnL>
                    <a:lnR>
                      <a:noFill/>
                    </a:lnR>
                    <a:lnT>
                      <a:noFill/>
                    </a:lnT>
                    <a:lnB>
                      <a:noFill/>
                    </a:lnB>
                    <a:solidFill>
                      <a:srgbClr val="FFFFFF"/>
                    </a:solidFill>
                  </a:tcPr>
                </a:tc>
                <a:tc>
                  <a:txBody>
                    <a:bodyPr/>
                    <a:lstStyle/>
                    <a:p>
                      <a:pPr algn="l" fontAlgn="t"/>
                      <a:r>
                        <a:rPr lang="en-IN" sz="1800" dirty="0">
                          <a:effectLst/>
                        </a:rPr>
                        <a:t>list, tuple, range</a:t>
                      </a:r>
                    </a:p>
                  </a:txBody>
                  <a:tcPr marL="73502" marR="73502" marT="73502" marB="73502">
                    <a:lnL>
                      <a:noFill/>
                    </a:lnL>
                    <a:lnR>
                      <a:noFill/>
                    </a:lnR>
                    <a:lnT>
                      <a:noFill/>
                    </a:lnT>
                    <a:lnB>
                      <a:noFill/>
                    </a:lnB>
                    <a:solidFill>
                      <a:srgbClr val="FFFFFF"/>
                    </a:solidFill>
                  </a:tcPr>
                </a:tc>
              </a:tr>
              <a:tr h="509427">
                <a:tc>
                  <a:txBody>
                    <a:bodyPr/>
                    <a:lstStyle/>
                    <a:p>
                      <a:pPr algn="l" fontAlgn="t"/>
                      <a:r>
                        <a:rPr lang="en-IN" sz="1800" dirty="0">
                          <a:effectLst/>
                        </a:rPr>
                        <a:t>Mapping Type:</a:t>
                      </a:r>
                    </a:p>
                  </a:txBody>
                  <a:tcPr marL="147005" marR="73502" marT="73502" marB="73502">
                    <a:lnL>
                      <a:noFill/>
                    </a:lnL>
                    <a:lnR>
                      <a:noFill/>
                    </a:lnR>
                    <a:lnT>
                      <a:noFill/>
                    </a:lnT>
                    <a:lnB>
                      <a:noFill/>
                    </a:lnB>
                    <a:solidFill>
                      <a:srgbClr val="FFFFFF"/>
                    </a:solidFill>
                  </a:tcPr>
                </a:tc>
                <a:tc>
                  <a:txBody>
                    <a:bodyPr/>
                    <a:lstStyle/>
                    <a:p>
                      <a:pPr algn="l" fontAlgn="t"/>
                      <a:r>
                        <a:rPr lang="en-IN" sz="1800" dirty="0" err="1">
                          <a:effectLst/>
                        </a:rPr>
                        <a:t>dict</a:t>
                      </a:r>
                      <a:endParaRPr lang="en-IN" sz="1800" dirty="0">
                        <a:effectLst/>
                      </a:endParaRPr>
                    </a:p>
                  </a:txBody>
                  <a:tcPr marL="73502" marR="73502" marT="73502" marB="73502">
                    <a:lnL>
                      <a:noFill/>
                    </a:lnL>
                    <a:lnR>
                      <a:noFill/>
                    </a:lnR>
                    <a:lnT>
                      <a:noFill/>
                    </a:lnT>
                    <a:lnB>
                      <a:noFill/>
                    </a:lnB>
                    <a:solidFill>
                      <a:srgbClr val="FFFFFF"/>
                    </a:solidFill>
                  </a:tcPr>
                </a:tc>
              </a:tr>
              <a:tr h="346323">
                <a:tc>
                  <a:txBody>
                    <a:bodyPr/>
                    <a:lstStyle/>
                    <a:p>
                      <a:pPr algn="l" fontAlgn="t"/>
                      <a:r>
                        <a:rPr lang="en-IN" sz="1800" dirty="0">
                          <a:effectLst/>
                        </a:rPr>
                        <a:t>Set Types:</a:t>
                      </a:r>
                    </a:p>
                  </a:txBody>
                  <a:tcPr marL="147005" marR="73502" marT="73502" marB="73502">
                    <a:lnL>
                      <a:noFill/>
                    </a:lnL>
                    <a:lnR>
                      <a:noFill/>
                    </a:lnR>
                    <a:lnT>
                      <a:noFill/>
                    </a:lnT>
                    <a:lnB>
                      <a:noFill/>
                    </a:lnB>
                    <a:solidFill>
                      <a:srgbClr val="FFFFFF"/>
                    </a:solidFill>
                  </a:tcPr>
                </a:tc>
                <a:tc>
                  <a:txBody>
                    <a:bodyPr/>
                    <a:lstStyle/>
                    <a:p>
                      <a:pPr algn="l" fontAlgn="t"/>
                      <a:r>
                        <a:rPr lang="en-IN" sz="1800" dirty="0">
                          <a:effectLst/>
                        </a:rPr>
                        <a:t>set, </a:t>
                      </a:r>
                      <a:r>
                        <a:rPr lang="en-IN" sz="1800" dirty="0" err="1">
                          <a:effectLst/>
                        </a:rPr>
                        <a:t>frozenset</a:t>
                      </a:r>
                      <a:endParaRPr lang="en-IN" sz="1800" dirty="0">
                        <a:effectLst/>
                      </a:endParaRPr>
                    </a:p>
                  </a:txBody>
                  <a:tcPr marL="73502" marR="73502" marT="73502" marB="73502">
                    <a:lnL>
                      <a:noFill/>
                    </a:lnL>
                    <a:lnR>
                      <a:noFill/>
                    </a:lnR>
                    <a:lnT>
                      <a:noFill/>
                    </a:lnT>
                    <a:lnB>
                      <a:noFill/>
                    </a:lnB>
                    <a:solidFill>
                      <a:srgbClr val="FFFFFF"/>
                    </a:solidFill>
                  </a:tcPr>
                </a:tc>
              </a:tr>
              <a:tr h="509427">
                <a:tc>
                  <a:txBody>
                    <a:bodyPr/>
                    <a:lstStyle/>
                    <a:p>
                      <a:pPr algn="l" fontAlgn="t"/>
                      <a:r>
                        <a:rPr lang="en-IN" sz="1800" dirty="0">
                          <a:effectLst/>
                        </a:rPr>
                        <a:t>Boolean Type:</a:t>
                      </a:r>
                    </a:p>
                  </a:txBody>
                  <a:tcPr marL="147005" marR="73502" marT="73502" marB="73502">
                    <a:lnL>
                      <a:noFill/>
                    </a:lnL>
                    <a:lnR>
                      <a:noFill/>
                    </a:lnR>
                    <a:lnT>
                      <a:noFill/>
                    </a:lnT>
                    <a:lnB>
                      <a:noFill/>
                    </a:lnB>
                    <a:solidFill>
                      <a:srgbClr val="FFFFFF"/>
                    </a:solidFill>
                  </a:tcPr>
                </a:tc>
                <a:tc>
                  <a:txBody>
                    <a:bodyPr/>
                    <a:lstStyle/>
                    <a:p>
                      <a:pPr algn="l" fontAlgn="t"/>
                      <a:r>
                        <a:rPr lang="en-IN" sz="1800" dirty="0">
                          <a:effectLst/>
                        </a:rPr>
                        <a:t>bool</a:t>
                      </a:r>
                    </a:p>
                  </a:txBody>
                  <a:tcPr marL="73502" marR="73502" marT="73502" marB="73502">
                    <a:lnL>
                      <a:noFill/>
                    </a:lnL>
                    <a:lnR>
                      <a:noFill/>
                    </a:lnR>
                    <a:lnT>
                      <a:noFill/>
                    </a:lnT>
                    <a:lnB>
                      <a:noFill/>
                    </a:lnB>
                    <a:solidFill>
                      <a:srgbClr val="FFFFFF"/>
                    </a:solidFill>
                  </a:tcPr>
                </a:tc>
              </a:tr>
              <a:tr h="509427">
                <a:tc>
                  <a:txBody>
                    <a:bodyPr/>
                    <a:lstStyle/>
                    <a:p>
                      <a:pPr algn="l" fontAlgn="t"/>
                      <a:r>
                        <a:rPr lang="en-IN" sz="1800">
                          <a:effectLst/>
                        </a:rPr>
                        <a:t>Binary Types:</a:t>
                      </a:r>
                    </a:p>
                  </a:txBody>
                  <a:tcPr marL="147005" marR="73502" marT="73502" marB="73502">
                    <a:lnL>
                      <a:noFill/>
                    </a:lnL>
                    <a:lnR>
                      <a:noFill/>
                    </a:lnR>
                    <a:lnT>
                      <a:noFill/>
                    </a:lnT>
                    <a:lnB>
                      <a:noFill/>
                    </a:lnB>
                    <a:solidFill>
                      <a:srgbClr val="FFFFFF"/>
                    </a:solidFill>
                  </a:tcPr>
                </a:tc>
                <a:tc>
                  <a:txBody>
                    <a:bodyPr/>
                    <a:lstStyle/>
                    <a:p>
                      <a:pPr algn="l" fontAlgn="t"/>
                      <a:r>
                        <a:rPr lang="en-IN" sz="1800" dirty="0">
                          <a:effectLst/>
                        </a:rPr>
                        <a:t>bytes, </a:t>
                      </a:r>
                      <a:r>
                        <a:rPr lang="en-IN" sz="1800" dirty="0" err="1">
                          <a:effectLst/>
                        </a:rPr>
                        <a:t>bytearray</a:t>
                      </a:r>
                      <a:r>
                        <a:rPr lang="en-IN" sz="1800" dirty="0">
                          <a:effectLst/>
                        </a:rPr>
                        <a:t>, </a:t>
                      </a:r>
                      <a:r>
                        <a:rPr lang="en-IN" sz="1800" dirty="0" err="1">
                          <a:effectLst/>
                        </a:rPr>
                        <a:t>memoryview</a:t>
                      </a:r>
                      <a:endParaRPr lang="en-IN" sz="1800" dirty="0">
                        <a:effectLst/>
                      </a:endParaRPr>
                    </a:p>
                  </a:txBody>
                  <a:tcPr marL="73502" marR="73502" marT="73502" marB="73502">
                    <a:lnL>
                      <a:noFill/>
                    </a:lnL>
                    <a:lnR>
                      <a:noFill/>
                    </a:lnR>
                    <a:lnT>
                      <a:noFill/>
                    </a:lnT>
                    <a:lnB>
                      <a:noFill/>
                    </a:lnB>
                    <a:solidFill>
                      <a:srgbClr val="FFFFFF"/>
                    </a:solidFill>
                  </a:tcPr>
                </a:tc>
              </a:tr>
            </a:tbl>
          </a:graphicData>
        </a:graphic>
      </p:graphicFrame>
      <p:sp>
        <p:nvSpPr>
          <p:cNvPr id="6" name="TextBox 5"/>
          <p:cNvSpPr txBox="1"/>
          <p:nvPr/>
        </p:nvSpPr>
        <p:spPr>
          <a:xfrm>
            <a:off x="382138" y="81044"/>
            <a:ext cx="4788490" cy="369332"/>
          </a:xfrm>
          <a:prstGeom prst="rect">
            <a:avLst/>
          </a:prstGeom>
          <a:noFill/>
        </p:spPr>
        <p:txBody>
          <a:bodyPr wrap="none" rtlCol="0">
            <a:spAutoFit/>
          </a:bodyPr>
          <a:lstStyle/>
          <a:p>
            <a:r>
              <a:rPr lang="en-IN" b="1" dirty="0" smtClean="0">
                <a:latin typeface="urw-din"/>
              </a:rPr>
              <a:t>5.What are the common build in function?</a:t>
            </a:r>
            <a:endParaRPr lang="en-IN" b="1" dirty="0">
              <a:latin typeface="urw-din"/>
            </a:endParaRPr>
          </a:p>
        </p:txBody>
      </p:sp>
      <p:sp>
        <p:nvSpPr>
          <p:cNvPr id="7" name="TextBox 6"/>
          <p:cNvSpPr txBox="1"/>
          <p:nvPr/>
        </p:nvSpPr>
        <p:spPr>
          <a:xfrm>
            <a:off x="237803" y="3967187"/>
            <a:ext cx="11382232" cy="2446824"/>
          </a:xfrm>
          <a:prstGeom prst="rect">
            <a:avLst/>
          </a:prstGeom>
          <a:noFill/>
        </p:spPr>
        <p:txBody>
          <a:bodyPr wrap="square" rtlCol="0">
            <a:spAutoFit/>
          </a:bodyPr>
          <a:lstStyle/>
          <a:p>
            <a:r>
              <a:rPr lang="en-US" b="1" dirty="0" smtClean="0">
                <a:latin typeface="urw-din"/>
              </a:rPr>
              <a:t>6.What are the use of self in python?</a:t>
            </a:r>
          </a:p>
          <a:p>
            <a:pPr>
              <a:lnSpc>
                <a:spcPct val="150000"/>
              </a:lnSpc>
            </a:pPr>
            <a:r>
              <a:rPr lang="en-US" dirty="0" smtClean="0"/>
              <a:t>	self </a:t>
            </a:r>
            <a:r>
              <a:rPr lang="en-US" dirty="0" smtClean="0"/>
              <a:t>represents </a:t>
            </a:r>
            <a:r>
              <a:rPr lang="en-US" dirty="0"/>
              <a:t>the instance of the class. By using the “self”  we can access the attributes and methods of the class in python. It binds the attributes with the given arguments.</a:t>
            </a:r>
            <a:br>
              <a:rPr lang="en-US" dirty="0"/>
            </a:br>
            <a:r>
              <a:rPr lang="en-US" dirty="0"/>
              <a:t>The reason you need to use self. is because Python does not use the @ syntax to refer to instance attributes. Python decided to do methods in a way that makes the instance to which the method belongs be passed automatically, but not received automatically: the first parameter of methods is the instance the method is called on.</a:t>
            </a:r>
            <a:endParaRPr lang="en-IN" dirty="0"/>
          </a:p>
        </p:txBody>
      </p:sp>
    </p:spTree>
    <p:extLst>
      <p:ext uri="{BB962C8B-B14F-4D97-AF65-F5344CB8AC3E}">
        <p14:creationId xmlns:p14="http://schemas.microsoft.com/office/powerpoint/2010/main" val="1334897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7340" y="299423"/>
            <a:ext cx="11156309" cy="6324808"/>
          </a:xfrm>
          <a:prstGeom prst="rect">
            <a:avLst/>
          </a:prstGeom>
          <a:noFill/>
        </p:spPr>
        <p:txBody>
          <a:bodyPr wrap="square" rtlCol="0">
            <a:spAutoFit/>
          </a:bodyPr>
          <a:lstStyle/>
          <a:p>
            <a:pPr fontAlgn="base"/>
            <a:r>
              <a:rPr lang="en-US" b="1" dirty="0" smtClean="0">
                <a:latin typeface="urw-din"/>
              </a:rPr>
              <a:t>7.What </a:t>
            </a:r>
            <a:r>
              <a:rPr lang="en-US" b="1" dirty="0">
                <a:latin typeface="urw-din"/>
              </a:rPr>
              <a:t>is __</a:t>
            </a:r>
            <a:r>
              <a:rPr lang="en-US" b="1" dirty="0" err="1">
                <a:latin typeface="urw-din"/>
              </a:rPr>
              <a:t>init</a:t>
            </a:r>
            <a:r>
              <a:rPr lang="en-US" b="1" dirty="0">
                <a:latin typeface="urw-din"/>
              </a:rPr>
              <a:t>__ in Python?</a:t>
            </a:r>
          </a:p>
          <a:p>
            <a:pPr fontAlgn="base">
              <a:lnSpc>
                <a:spcPct val="150000"/>
              </a:lnSpc>
            </a:pPr>
            <a:r>
              <a:rPr lang="en-US" dirty="0" smtClean="0"/>
              <a:t>	The </a:t>
            </a:r>
            <a:r>
              <a:rPr lang="en-US" dirty="0"/>
              <a:t>Default __</a:t>
            </a:r>
            <a:r>
              <a:rPr lang="en-US" dirty="0" err="1"/>
              <a:t>init</a:t>
            </a:r>
            <a:r>
              <a:rPr lang="en-US" dirty="0"/>
              <a:t>__ Constructor in C++ and Java. Constructors are used to initializing the object’s state. The task of constructors is to initialize(assign values) to the data members of the class when an object of the class is created. Like methods, a constructor also contains a collection of statements(i.e. instructions) that are executed at the time of Object creation. It is run as soon as an object of a class is instantiated. The method is useful to do any initialization you want to do with your object</a:t>
            </a:r>
            <a:r>
              <a:rPr lang="en-US" dirty="0" smtClean="0"/>
              <a:t>.</a:t>
            </a:r>
          </a:p>
          <a:p>
            <a:pPr fontAlgn="base"/>
            <a:endParaRPr lang="en-US" dirty="0"/>
          </a:p>
          <a:p>
            <a:pPr lvl="0" eaLnBrk="0" fontAlgn="base" hangingPunct="0">
              <a:spcBef>
                <a:spcPct val="0"/>
              </a:spcBef>
              <a:spcAft>
                <a:spcPct val="0"/>
              </a:spcAft>
            </a:pPr>
            <a:r>
              <a:rPr lang="en-US" b="1" dirty="0" smtClean="0">
                <a:solidFill>
                  <a:srgbClr val="273239"/>
                </a:solidFill>
                <a:latin typeface="urw-din"/>
              </a:rPr>
              <a:t>8.What is the Lambda Function  in python?</a:t>
            </a:r>
          </a:p>
          <a:p>
            <a:pPr lvl="0" eaLnBrk="0" fontAlgn="base" hangingPunct="0">
              <a:lnSpc>
                <a:spcPct val="150000"/>
              </a:lnSpc>
              <a:spcBef>
                <a:spcPct val="0"/>
              </a:spcBef>
              <a:spcAft>
                <a:spcPct val="0"/>
              </a:spcAft>
            </a:pPr>
            <a:r>
              <a:rPr lang="en-US" dirty="0" smtClean="0">
                <a:solidFill>
                  <a:srgbClr val="273239"/>
                </a:solidFill>
                <a:latin typeface="urw-din"/>
              </a:rPr>
              <a:t>	</a:t>
            </a:r>
            <a:r>
              <a:rPr lang="en-US" dirty="0" smtClean="0">
                <a:solidFill>
                  <a:srgbClr val="273239"/>
                </a:solidFill>
              </a:rPr>
              <a:t>Python lambda function are </a:t>
            </a:r>
            <a:r>
              <a:rPr lang="en-US" dirty="0">
                <a:solidFill>
                  <a:srgbClr val="273239"/>
                </a:solidFill>
              </a:rPr>
              <a:t>anonymous function means that the function is without a name. As we already know that the </a:t>
            </a:r>
            <a:r>
              <a:rPr lang="en-US" dirty="0" err="1">
                <a:solidFill>
                  <a:srgbClr val="273239"/>
                </a:solidFill>
              </a:rPr>
              <a:t>def</a:t>
            </a:r>
            <a:r>
              <a:rPr lang="en-US" dirty="0">
                <a:solidFill>
                  <a:srgbClr val="273239"/>
                </a:solidFill>
              </a:rPr>
              <a:t> keyword is used to define a normal function in Python. Similarly, the lambda keyword is used to define an anonymous function in Python. </a:t>
            </a:r>
          </a:p>
          <a:p>
            <a:pPr lvl="0" eaLnBrk="0" fontAlgn="base" hangingPunct="0">
              <a:lnSpc>
                <a:spcPct val="150000"/>
              </a:lnSpc>
              <a:spcBef>
                <a:spcPct val="0"/>
              </a:spcBef>
              <a:spcAft>
                <a:spcPct val="0"/>
              </a:spcAft>
            </a:pPr>
            <a:r>
              <a:rPr lang="en-US" b="1" dirty="0" smtClean="0"/>
              <a:t>Syntax</a:t>
            </a:r>
            <a:r>
              <a:rPr lang="en-US" b="1" dirty="0"/>
              <a:t>: </a:t>
            </a:r>
            <a:r>
              <a:rPr lang="en-US" dirty="0"/>
              <a:t>lambda arguments: expression</a:t>
            </a:r>
          </a:p>
          <a:p>
            <a:pPr lvl="0" eaLnBrk="0" fontAlgn="base" hangingPunct="0">
              <a:lnSpc>
                <a:spcPct val="150000"/>
              </a:lnSpc>
              <a:spcBef>
                <a:spcPct val="0"/>
              </a:spcBef>
              <a:spcAft>
                <a:spcPct val="0"/>
              </a:spcAft>
              <a:buFontTx/>
              <a:buChar char="•"/>
            </a:pPr>
            <a:r>
              <a:rPr lang="en-US" dirty="0"/>
              <a:t>This function can have any number of arguments but only one expression, which is evaluated and returned.</a:t>
            </a:r>
          </a:p>
          <a:p>
            <a:pPr lvl="0" eaLnBrk="0" fontAlgn="base" hangingPunct="0">
              <a:lnSpc>
                <a:spcPct val="150000"/>
              </a:lnSpc>
              <a:spcBef>
                <a:spcPct val="0"/>
              </a:spcBef>
              <a:spcAft>
                <a:spcPct val="0"/>
              </a:spcAft>
              <a:buFontTx/>
              <a:buChar char="•"/>
            </a:pPr>
            <a:r>
              <a:rPr lang="en-US" dirty="0"/>
              <a:t>One is free to use lambda functions wherever function objects are required.</a:t>
            </a:r>
          </a:p>
          <a:p>
            <a:pPr lvl="0" eaLnBrk="0" fontAlgn="base" hangingPunct="0">
              <a:lnSpc>
                <a:spcPct val="150000"/>
              </a:lnSpc>
              <a:spcBef>
                <a:spcPct val="0"/>
              </a:spcBef>
              <a:spcAft>
                <a:spcPct val="0"/>
              </a:spcAft>
              <a:buFontTx/>
              <a:buChar char="•"/>
            </a:pPr>
            <a:r>
              <a:rPr lang="en-US" dirty="0"/>
              <a:t>You need to keep in your knowledge that lambda functions are syntactically restricted to a single expression.</a:t>
            </a:r>
          </a:p>
          <a:p>
            <a:pPr lvl="0" eaLnBrk="0" fontAlgn="base" hangingPunct="0">
              <a:lnSpc>
                <a:spcPct val="150000"/>
              </a:lnSpc>
              <a:spcBef>
                <a:spcPct val="0"/>
              </a:spcBef>
              <a:spcAft>
                <a:spcPct val="0"/>
              </a:spcAft>
              <a:buFontTx/>
              <a:buChar char="•"/>
            </a:pPr>
            <a:r>
              <a:rPr lang="en-US" dirty="0"/>
              <a:t>It has various uses in particular fields of programming, besides other types of expressions in functions</a:t>
            </a:r>
            <a:r>
              <a:rPr lang="en-US" dirty="0" smtClean="0"/>
              <a:t>.</a:t>
            </a:r>
            <a:endParaRPr lang="en-US" dirty="0"/>
          </a:p>
        </p:txBody>
      </p:sp>
    </p:spTree>
    <p:extLst>
      <p:ext uri="{BB962C8B-B14F-4D97-AF65-F5344CB8AC3E}">
        <p14:creationId xmlns:p14="http://schemas.microsoft.com/office/powerpoint/2010/main" val="18063804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7137" y="207818"/>
            <a:ext cx="11614247" cy="6324808"/>
          </a:xfrm>
          <a:prstGeom prst="rect">
            <a:avLst/>
          </a:prstGeom>
          <a:noFill/>
        </p:spPr>
        <p:txBody>
          <a:bodyPr wrap="square" rtlCol="0">
            <a:spAutoFit/>
          </a:bodyPr>
          <a:lstStyle/>
          <a:p>
            <a:r>
              <a:rPr lang="en-US" b="1" dirty="0" smtClean="0">
                <a:latin typeface="urw-din"/>
              </a:rPr>
              <a:t>9.When to use a tuple </a:t>
            </a:r>
            <a:r>
              <a:rPr lang="en-US" b="1" dirty="0" err="1" smtClean="0">
                <a:latin typeface="urw-din"/>
              </a:rPr>
              <a:t>vs</a:t>
            </a:r>
            <a:r>
              <a:rPr lang="en-US" b="1" dirty="0" smtClean="0">
                <a:latin typeface="urw-din"/>
              </a:rPr>
              <a:t> list </a:t>
            </a:r>
            <a:r>
              <a:rPr lang="en-US" b="1" dirty="0" err="1" smtClean="0">
                <a:latin typeface="urw-din"/>
              </a:rPr>
              <a:t>vs</a:t>
            </a:r>
            <a:r>
              <a:rPr lang="en-US" b="1" dirty="0" smtClean="0">
                <a:latin typeface="urw-din"/>
              </a:rPr>
              <a:t> dictionary in python?</a:t>
            </a:r>
          </a:p>
          <a:p>
            <a:pPr>
              <a:lnSpc>
                <a:spcPct val="150000"/>
              </a:lnSpc>
            </a:pPr>
            <a:r>
              <a:rPr lang="en-US" dirty="0" smtClean="0"/>
              <a:t>	List </a:t>
            </a:r>
            <a:r>
              <a:rPr lang="en-US" dirty="0"/>
              <a:t>and Tuple objects are sequences. A dictionary is a hash table of key-value pairs. List and tuple is an ordered collection of items. Dictionary is unordered </a:t>
            </a:r>
            <a:r>
              <a:rPr lang="en-US" dirty="0" smtClean="0"/>
              <a:t>collection. List </a:t>
            </a:r>
            <a:r>
              <a:rPr lang="en-US" dirty="0"/>
              <a:t>and dictionary objects are mutable i.e. it is possible to add new item or delete and item from it. Tuple is an immutable object. Addition or deletion operations are not possible on tuple </a:t>
            </a:r>
            <a:r>
              <a:rPr lang="en-US" dirty="0" smtClean="0"/>
              <a:t>object. Each </a:t>
            </a:r>
            <a:r>
              <a:rPr lang="en-US" dirty="0"/>
              <a:t>of them is a collection of comma-separated items. List items are enclosed in square brackets [], tuple items in round brackets or parentheses (), and dictionary items in curly brackets </a:t>
            </a:r>
            <a:r>
              <a:rPr lang="en-US" dirty="0" smtClean="0"/>
              <a:t>{}</a:t>
            </a:r>
          </a:p>
          <a:p>
            <a:endParaRPr lang="en-US" b="1" dirty="0" smtClean="0"/>
          </a:p>
          <a:p>
            <a:r>
              <a:rPr lang="en-US" b="1" dirty="0" smtClean="0">
                <a:latin typeface="urw-din"/>
              </a:rPr>
              <a:t>10.How is memory managed in python?</a:t>
            </a:r>
          </a:p>
          <a:p>
            <a:pPr fontAlgn="base">
              <a:lnSpc>
                <a:spcPct val="150000"/>
              </a:lnSpc>
            </a:pPr>
            <a:r>
              <a:rPr lang="en-US" dirty="0" smtClean="0"/>
              <a:t>	Understanding Memory allocation is important to any software developer as writing efficient code means writing a memory-efficient code. Memory allocation can be defined as allocating a block of space in the computer memory to a program. In Python memory allocation and </a:t>
            </a:r>
            <a:r>
              <a:rPr lang="en-US" dirty="0" err="1" smtClean="0"/>
              <a:t>deallocation</a:t>
            </a:r>
            <a:r>
              <a:rPr lang="en-US" dirty="0" smtClean="0"/>
              <a:t> method is automatic as the Python developers created a </a:t>
            </a:r>
            <a:r>
              <a:rPr lang="en-US" u="sng" dirty="0" smtClean="0">
                <a:hlinkClick r:id="rId2"/>
              </a:rPr>
              <a:t>garbage collector</a:t>
            </a:r>
            <a:r>
              <a:rPr lang="en-US" dirty="0" smtClean="0"/>
              <a:t> for Python so that the user does not have to do manual garbage collection.</a:t>
            </a:r>
          </a:p>
          <a:p>
            <a:pPr fontAlgn="base">
              <a:lnSpc>
                <a:spcPct val="150000"/>
              </a:lnSpc>
            </a:pPr>
            <a:r>
              <a:rPr lang="en-US" u="sng" dirty="0" smtClean="0">
                <a:hlinkClick r:id="rId2"/>
              </a:rPr>
              <a:t>Garbage </a:t>
            </a:r>
            <a:r>
              <a:rPr lang="en-US" u="sng" dirty="0">
                <a:hlinkClick r:id="rId2"/>
              </a:rPr>
              <a:t>collection</a:t>
            </a:r>
            <a:r>
              <a:rPr lang="en-US" dirty="0"/>
              <a:t> is a process in which the interpreter frees up the memory when not in use to make it available for other objects.</a:t>
            </a:r>
            <a:br>
              <a:rPr lang="en-US" dirty="0"/>
            </a:br>
            <a:r>
              <a:rPr lang="en-US" dirty="0"/>
              <a:t>Assume a case where no reference is pointing to an object in memory i.e. it is not in use so, the virtual machine has a garbage collector that automatically deletes that object from the heap </a:t>
            </a:r>
            <a:r>
              <a:rPr lang="en-US" dirty="0" smtClean="0"/>
              <a:t>memory</a:t>
            </a:r>
            <a:endParaRPr lang="en-US" dirty="0" smtClean="0"/>
          </a:p>
        </p:txBody>
      </p:sp>
    </p:spTree>
    <p:extLst>
      <p:ext uri="{BB962C8B-B14F-4D97-AF65-F5344CB8AC3E}">
        <p14:creationId xmlns:p14="http://schemas.microsoft.com/office/powerpoint/2010/main" val="2282789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0696" y="130390"/>
            <a:ext cx="10621107" cy="6740307"/>
          </a:xfrm>
          <a:prstGeom prst="rect">
            <a:avLst/>
          </a:prstGeom>
          <a:noFill/>
        </p:spPr>
        <p:txBody>
          <a:bodyPr wrap="square" rtlCol="0">
            <a:spAutoFit/>
          </a:bodyPr>
          <a:lstStyle/>
          <a:p>
            <a:pPr fontAlgn="base">
              <a:lnSpc>
                <a:spcPct val="150000"/>
              </a:lnSpc>
            </a:pPr>
            <a:r>
              <a:rPr lang="en-US" b="1" dirty="0" smtClean="0">
                <a:latin typeface="urw-din"/>
              </a:rPr>
              <a:t>11.What </a:t>
            </a:r>
            <a:r>
              <a:rPr lang="en-US" b="1" dirty="0">
                <a:latin typeface="urw-din"/>
              </a:rPr>
              <a:t>are the key features of python?</a:t>
            </a:r>
          </a:p>
          <a:p>
            <a:pPr fontAlgn="base">
              <a:lnSpc>
                <a:spcPct val="150000"/>
              </a:lnSpc>
            </a:pPr>
            <a:r>
              <a:rPr lang="en-US" b="1" dirty="0"/>
              <a:t>	Python</a:t>
            </a:r>
            <a:r>
              <a:rPr lang="en-US" dirty="0"/>
              <a:t> is a dynamic, high-level, free open source, and interpreted programming language. It supports object-oriented programming as well as </a:t>
            </a:r>
            <a:r>
              <a:rPr lang="en-US" u="sng" dirty="0">
                <a:hlinkClick r:id="rId2"/>
              </a:rPr>
              <a:t>procedural-oriented </a:t>
            </a:r>
            <a:r>
              <a:rPr lang="en-US" u="sng" dirty="0" smtClean="0">
                <a:hlinkClick r:id="rId2"/>
              </a:rPr>
              <a:t>programming</a:t>
            </a:r>
            <a:r>
              <a:rPr lang="en-US" dirty="0" smtClean="0"/>
              <a:t>.</a:t>
            </a:r>
            <a:endParaRPr lang="en-US" b="1" dirty="0" smtClean="0"/>
          </a:p>
          <a:p>
            <a:pPr marL="285750" indent="-285750" fontAlgn="base">
              <a:lnSpc>
                <a:spcPct val="150000"/>
              </a:lnSpc>
              <a:buFont typeface="Arial" panose="020B0604020202020204" pitchFamily="34" charset="0"/>
              <a:buChar char="•"/>
            </a:pPr>
            <a:r>
              <a:rPr lang="en-US" dirty="0" smtClean="0"/>
              <a:t>Free </a:t>
            </a:r>
            <a:r>
              <a:rPr lang="en-US" dirty="0"/>
              <a:t>and Open </a:t>
            </a:r>
            <a:r>
              <a:rPr lang="en-US" dirty="0" smtClean="0"/>
              <a:t>Source</a:t>
            </a:r>
            <a:endParaRPr lang="en-US" dirty="0" smtClean="0"/>
          </a:p>
          <a:p>
            <a:pPr marL="285750" indent="-285750" fontAlgn="base">
              <a:lnSpc>
                <a:spcPct val="150000"/>
              </a:lnSpc>
              <a:buFont typeface="Arial" panose="020B0604020202020204" pitchFamily="34" charset="0"/>
              <a:buChar char="•"/>
            </a:pPr>
            <a:r>
              <a:rPr lang="en-US" dirty="0" smtClean="0"/>
              <a:t>Easy </a:t>
            </a:r>
            <a:r>
              <a:rPr lang="en-US" dirty="0"/>
              <a:t>to </a:t>
            </a:r>
            <a:r>
              <a:rPr lang="en-US" dirty="0" smtClean="0"/>
              <a:t>code- </a:t>
            </a:r>
            <a:endParaRPr lang="en-US" dirty="0" smtClean="0"/>
          </a:p>
          <a:p>
            <a:pPr marL="285750" indent="-285750" fontAlgn="base">
              <a:lnSpc>
                <a:spcPct val="150000"/>
              </a:lnSpc>
              <a:buFont typeface="Arial" panose="020B0604020202020204" pitchFamily="34" charset="0"/>
              <a:buChar char="•"/>
            </a:pPr>
            <a:r>
              <a:rPr lang="en-US" dirty="0" smtClean="0"/>
              <a:t>Easy </a:t>
            </a:r>
            <a:r>
              <a:rPr lang="en-US" dirty="0"/>
              <a:t>to </a:t>
            </a:r>
            <a:r>
              <a:rPr lang="en-US" dirty="0" smtClean="0"/>
              <a:t>Read- </a:t>
            </a:r>
            <a:endParaRPr lang="en-US" dirty="0" smtClean="0"/>
          </a:p>
          <a:p>
            <a:pPr marL="285750" indent="-285750" fontAlgn="base">
              <a:lnSpc>
                <a:spcPct val="150000"/>
              </a:lnSpc>
              <a:buFont typeface="Arial" panose="020B0604020202020204" pitchFamily="34" charset="0"/>
              <a:buChar char="•"/>
            </a:pPr>
            <a:r>
              <a:rPr lang="en-US" dirty="0" smtClean="0"/>
              <a:t>Object-Oriented </a:t>
            </a:r>
            <a:r>
              <a:rPr lang="en-US" dirty="0" smtClean="0"/>
              <a:t>Language </a:t>
            </a:r>
            <a:r>
              <a:rPr lang="en-US" dirty="0" smtClean="0"/>
              <a:t>-</a:t>
            </a:r>
            <a:endParaRPr lang="en-US" dirty="0" smtClean="0"/>
          </a:p>
          <a:p>
            <a:pPr marL="285750" indent="-285750" fontAlgn="base">
              <a:lnSpc>
                <a:spcPct val="150000"/>
              </a:lnSpc>
              <a:buFont typeface="Arial" panose="020B0604020202020204" pitchFamily="34" charset="0"/>
              <a:buChar char="•"/>
            </a:pPr>
            <a:r>
              <a:rPr lang="en-US" dirty="0" smtClean="0"/>
              <a:t>GUI </a:t>
            </a:r>
            <a:r>
              <a:rPr lang="en-US" dirty="0"/>
              <a:t>Programming </a:t>
            </a:r>
            <a:r>
              <a:rPr lang="en-US" dirty="0" smtClean="0"/>
              <a:t>Support- </a:t>
            </a:r>
            <a:endParaRPr lang="en-US" dirty="0" smtClean="0"/>
          </a:p>
          <a:p>
            <a:pPr marL="285750" indent="-285750" fontAlgn="base">
              <a:lnSpc>
                <a:spcPct val="150000"/>
              </a:lnSpc>
              <a:buFont typeface="Arial" panose="020B0604020202020204" pitchFamily="34" charset="0"/>
              <a:buChar char="•"/>
            </a:pPr>
            <a:r>
              <a:rPr lang="en-US" dirty="0" smtClean="0"/>
              <a:t>High-Level </a:t>
            </a:r>
            <a:r>
              <a:rPr lang="en-US" dirty="0" smtClean="0"/>
              <a:t>Language- </a:t>
            </a:r>
            <a:endParaRPr lang="en-US" dirty="0" smtClean="0"/>
          </a:p>
          <a:p>
            <a:pPr marL="285750" indent="-285750" fontAlgn="base">
              <a:lnSpc>
                <a:spcPct val="150000"/>
              </a:lnSpc>
              <a:buFont typeface="Arial" panose="020B0604020202020204" pitchFamily="34" charset="0"/>
              <a:buChar char="•"/>
            </a:pPr>
            <a:r>
              <a:rPr lang="en-US" dirty="0" smtClean="0"/>
              <a:t>Extensible </a:t>
            </a:r>
            <a:r>
              <a:rPr lang="en-US" dirty="0" smtClean="0"/>
              <a:t>feature </a:t>
            </a:r>
            <a:r>
              <a:rPr lang="en-US" dirty="0" smtClean="0"/>
              <a:t>–</a:t>
            </a:r>
          </a:p>
          <a:p>
            <a:pPr marL="285750" indent="-285750" fontAlgn="base">
              <a:lnSpc>
                <a:spcPct val="150000"/>
              </a:lnSpc>
              <a:buFont typeface="Arial" panose="020B0604020202020204" pitchFamily="34" charset="0"/>
              <a:buChar char="•"/>
            </a:pPr>
            <a:r>
              <a:rPr lang="en-US" dirty="0" smtClean="0"/>
              <a:t>Python </a:t>
            </a:r>
            <a:r>
              <a:rPr lang="en-US" dirty="0"/>
              <a:t>is a Portable language-</a:t>
            </a:r>
          </a:p>
          <a:p>
            <a:pPr marL="285750" indent="-285750" fontAlgn="base">
              <a:lnSpc>
                <a:spcPct val="150000"/>
              </a:lnSpc>
              <a:buFont typeface="Arial" panose="020B0604020202020204" pitchFamily="34" charset="0"/>
              <a:buChar char="•"/>
            </a:pPr>
            <a:r>
              <a:rPr lang="en-US" dirty="0" smtClean="0"/>
              <a:t>Python </a:t>
            </a:r>
            <a:r>
              <a:rPr lang="en-US" dirty="0"/>
              <a:t>is an Integrated language-</a:t>
            </a:r>
          </a:p>
          <a:p>
            <a:pPr marL="285750" indent="-285750" fontAlgn="base">
              <a:lnSpc>
                <a:spcPct val="150000"/>
              </a:lnSpc>
              <a:buFont typeface="Arial" panose="020B0604020202020204" pitchFamily="34" charset="0"/>
              <a:buChar char="•"/>
            </a:pPr>
            <a:r>
              <a:rPr lang="en-US" dirty="0" smtClean="0"/>
              <a:t>Large </a:t>
            </a:r>
            <a:r>
              <a:rPr lang="en-US" dirty="0"/>
              <a:t>Standard Library  -</a:t>
            </a:r>
          </a:p>
          <a:p>
            <a:pPr marL="285750" indent="-285750" fontAlgn="base">
              <a:lnSpc>
                <a:spcPct val="150000"/>
              </a:lnSpc>
              <a:buFont typeface="Arial" panose="020B0604020202020204" pitchFamily="34" charset="0"/>
              <a:buChar char="•"/>
            </a:pPr>
            <a:r>
              <a:rPr lang="en-US" dirty="0" smtClean="0"/>
              <a:t>Dynamically </a:t>
            </a:r>
            <a:r>
              <a:rPr lang="en-US" dirty="0"/>
              <a:t>Typed Language -</a:t>
            </a:r>
          </a:p>
          <a:p>
            <a:pPr marL="285750" indent="-285750" fontAlgn="base">
              <a:lnSpc>
                <a:spcPct val="150000"/>
              </a:lnSpc>
              <a:buFont typeface="Arial" panose="020B0604020202020204" pitchFamily="34" charset="0"/>
              <a:buChar char="•"/>
            </a:pPr>
            <a:r>
              <a:rPr lang="en-US" dirty="0" smtClean="0"/>
              <a:t>Frontend </a:t>
            </a:r>
            <a:r>
              <a:rPr lang="en-US" dirty="0"/>
              <a:t>and backend development</a:t>
            </a:r>
          </a:p>
          <a:p>
            <a:pPr marL="285750" indent="-285750" fontAlgn="base">
              <a:lnSpc>
                <a:spcPct val="150000"/>
              </a:lnSpc>
              <a:buFont typeface="Arial" panose="020B0604020202020204" pitchFamily="34" charset="0"/>
              <a:buChar char="•"/>
            </a:pPr>
            <a:r>
              <a:rPr lang="en-US" dirty="0" smtClean="0"/>
              <a:t>Allocating </a:t>
            </a:r>
            <a:r>
              <a:rPr lang="en-US" dirty="0"/>
              <a:t>Memory Dynamically </a:t>
            </a:r>
            <a:r>
              <a:rPr lang="en-US" dirty="0" smtClean="0"/>
              <a:t>-.</a:t>
            </a:r>
            <a:endParaRPr lang="en-US" dirty="0"/>
          </a:p>
        </p:txBody>
      </p:sp>
    </p:spTree>
    <p:extLst>
      <p:ext uri="{BB962C8B-B14F-4D97-AF65-F5344CB8AC3E}">
        <p14:creationId xmlns:p14="http://schemas.microsoft.com/office/powerpoint/2010/main" val="2570369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5080" y="166299"/>
            <a:ext cx="11622433" cy="6324808"/>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b="1" dirty="0" smtClean="0">
                <a:solidFill>
                  <a:srgbClr val="222222"/>
                </a:solidFill>
                <a:latin typeface="urw-din"/>
              </a:rPr>
              <a:t>12.What </a:t>
            </a:r>
            <a:r>
              <a:rPr lang="en-US" b="1" dirty="0">
                <a:solidFill>
                  <a:srgbClr val="222222"/>
                </a:solidFill>
                <a:latin typeface="urw-din"/>
              </a:rPr>
              <a:t>are Python Modules?</a:t>
            </a:r>
            <a:endParaRPr lang="en-US" dirty="0">
              <a:solidFill>
                <a:srgbClr val="222222"/>
              </a:solidFill>
              <a:latin typeface="urw-din"/>
            </a:endParaRPr>
          </a:p>
          <a:p>
            <a:pPr lvl="0" eaLnBrk="0" fontAlgn="base" hangingPunct="0">
              <a:lnSpc>
                <a:spcPct val="150000"/>
              </a:lnSpc>
              <a:spcBef>
                <a:spcPct val="0"/>
              </a:spcBef>
              <a:spcAft>
                <a:spcPct val="0"/>
              </a:spcAft>
            </a:pPr>
            <a:r>
              <a:rPr lang="en-US" dirty="0" smtClean="0">
                <a:solidFill>
                  <a:srgbClr val="222222"/>
                </a:solidFill>
              </a:rPr>
              <a:t>	In </a:t>
            </a:r>
            <a:r>
              <a:rPr lang="en-US" dirty="0">
                <a:solidFill>
                  <a:srgbClr val="222222"/>
                </a:solidFill>
              </a:rPr>
              <a:t>Python, </a:t>
            </a:r>
            <a:r>
              <a:rPr lang="en-US" b="1" dirty="0">
                <a:solidFill>
                  <a:srgbClr val="222222"/>
                </a:solidFill>
              </a:rPr>
              <a:t>Modules</a:t>
            </a:r>
            <a:r>
              <a:rPr lang="en-US" dirty="0">
                <a:solidFill>
                  <a:srgbClr val="222222"/>
                </a:solidFill>
              </a:rPr>
              <a:t> are simply files with the “.</a:t>
            </a:r>
            <a:r>
              <a:rPr lang="en-US" dirty="0" err="1">
                <a:solidFill>
                  <a:srgbClr val="222222"/>
                </a:solidFill>
              </a:rPr>
              <a:t>py</a:t>
            </a:r>
            <a:r>
              <a:rPr lang="en-US" dirty="0">
                <a:solidFill>
                  <a:srgbClr val="222222"/>
                </a:solidFill>
              </a:rPr>
              <a:t>” extension containing Python code that can be imported inside another Python </a:t>
            </a:r>
            <a:r>
              <a:rPr lang="en-US" dirty="0" smtClean="0">
                <a:solidFill>
                  <a:srgbClr val="222222"/>
                </a:solidFill>
              </a:rPr>
              <a:t>Program. In </a:t>
            </a:r>
            <a:r>
              <a:rPr lang="en-US" dirty="0">
                <a:solidFill>
                  <a:srgbClr val="222222"/>
                </a:solidFill>
              </a:rPr>
              <a:t>simple terms, we can consider a module to be the same as a code library or a file that contains a set of functions that you want to include in your application.</a:t>
            </a:r>
            <a:endParaRPr lang="en-US" dirty="0"/>
          </a:p>
          <a:p>
            <a:pPr lvl="0" eaLnBrk="0" fontAlgn="base" hangingPunct="0">
              <a:lnSpc>
                <a:spcPct val="150000"/>
              </a:lnSpc>
              <a:spcBef>
                <a:spcPct val="0"/>
              </a:spcBef>
              <a:spcAft>
                <a:spcPct val="0"/>
              </a:spcAft>
            </a:pPr>
            <a:r>
              <a:rPr lang="en-US" dirty="0" smtClean="0">
                <a:solidFill>
                  <a:srgbClr val="222222"/>
                </a:solidFill>
              </a:rPr>
              <a:t>The </a:t>
            </a:r>
            <a:r>
              <a:rPr lang="en-US" dirty="0">
                <a:solidFill>
                  <a:srgbClr val="222222"/>
                </a:solidFill>
              </a:rPr>
              <a:t>module contains the following components:</a:t>
            </a:r>
            <a:endParaRPr lang="en-US" dirty="0"/>
          </a:p>
          <a:p>
            <a:pPr lvl="0" eaLnBrk="0" fontAlgn="base" hangingPunct="0">
              <a:lnSpc>
                <a:spcPct val="150000"/>
              </a:lnSpc>
              <a:spcBef>
                <a:spcPct val="0"/>
              </a:spcBef>
              <a:spcAft>
                <a:spcPct val="0"/>
              </a:spcAft>
            </a:pPr>
            <a:r>
              <a:rPr lang="en-US" b="1" dirty="0" smtClean="0">
                <a:solidFill>
                  <a:srgbClr val="222222"/>
                </a:solidFill>
                <a:latin typeface="urw-din"/>
              </a:rPr>
              <a:t>13.what </a:t>
            </a:r>
            <a:r>
              <a:rPr lang="en-US" b="1" dirty="0" smtClean="0">
                <a:solidFill>
                  <a:srgbClr val="222222"/>
                </a:solidFill>
                <a:latin typeface="urw-din"/>
              </a:rPr>
              <a:t>are the function in python?</a:t>
            </a:r>
          </a:p>
          <a:p>
            <a:pPr>
              <a:lnSpc>
                <a:spcPct val="150000"/>
              </a:lnSpc>
            </a:pPr>
            <a:r>
              <a:rPr lang="en-US" dirty="0" smtClean="0"/>
              <a:t>	A function </a:t>
            </a:r>
            <a:r>
              <a:rPr lang="en-US" dirty="0"/>
              <a:t>is a block of organized, reusable code that is used to perform a single, related action. Functions provide better modularity for your application and a high degree of code </a:t>
            </a:r>
            <a:r>
              <a:rPr lang="en-US" dirty="0" smtClean="0"/>
              <a:t>reusing. As </a:t>
            </a:r>
            <a:r>
              <a:rPr lang="en-US" dirty="0"/>
              <a:t>you already know, Python gives you many built-in functions like print(), etc. but you can also create your own functions. These functions are called </a:t>
            </a:r>
            <a:r>
              <a:rPr lang="en-US" i="1" dirty="0"/>
              <a:t>user-defined functions</a:t>
            </a:r>
            <a:r>
              <a:rPr lang="en-US" i="1" dirty="0" smtClean="0"/>
              <a:t>.</a:t>
            </a:r>
          </a:p>
          <a:p>
            <a:pPr>
              <a:lnSpc>
                <a:spcPct val="150000"/>
              </a:lnSpc>
            </a:pPr>
            <a:r>
              <a:rPr lang="en-US" b="1" dirty="0" smtClean="0">
                <a:latin typeface="urw-din"/>
              </a:rPr>
              <a:t>14.What </a:t>
            </a:r>
            <a:r>
              <a:rPr lang="en-US" b="1" dirty="0" smtClean="0">
                <a:latin typeface="urw-din"/>
              </a:rPr>
              <a:t>are decorators in python?</a:t>
            </a:r>
          </a:p>
          <a:p>
            <a:pPr>
              <a:lnSpc>
                <a:spcPct val="150000"/>
              </a:lnSpc>
            </a:pPr>
            <a:r>
              <a:rPr lang="en-US" dirty="0" smtClean="0"/>
              <a:t>	decorators are a very powerful and useful tool in Python since it allows programmers to modify the </a:t>
            </a:r>
            <a:r>
              <a:rPr lang="en-US" dirty="0" err="1" smtClean="0"/>
              <a:t>behaviour</a:t>
            </a:r>
            <a:r>
              <a:rPr lang="en-US" dirty="0" smtClean="0"/>
              <a:t> of a function or class. Decorators allow us to wrap another function in order to extend the </a:t>
            </a:r>
            <a:r>
              <a:rPr lang="en-US" dirty="0" err="1" smtClean="0"/>
              <a:t>behaviour</a:t>
            </a:r>
            <a:r>
              <a:rPr lang="en-US" dirty="0" smtClean="0"/>
              <a:t> of the wrapped function, without permanently modifying it. But before diving deep into decorators let us understand some concepts that will come in handy in learning the decorators.</a:t>
            </a:r>
          </a:p>
        </p:txBody>
      </p:sp>
      <p:sp>
        <p:nvSpPr>
          <p:cNvPr id="6" name="Rectangle 2"/>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5940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2632" y="0"/>
            <a:ext cx="11440232" cy="4524315"/>
          </a:xfrm>
          <a:prstGeom prst="rect">
            <a:avLst/>
          </a:prstGeom>
          <a:noFill/>
        </p:spPr>
        <p:txBody>
          <a:bodyPr wrap="square" rtlCol="0">
            <a:spAutoFit/>
          </a:bodyPr>
          <a:lstStyle/>
          <a:p>
            <a:pPr>
              <a:lnSpc>
                <a:spcPct val="150000"/>
              </a:lnSpc>
            </a:pPr>
            <a:r>
              <a:rPr lang="en-US" b="1" dirty="0" smtClean="0">
                <a:latin typeface="urw-din"/>
              </a:rPr>
              <a:t>15.What </a:t>
            </a:r>
            <a:r>
              <a:rPr lang="en-US" b="1" dirty="0" smtClean="0">
                <a:latin typeface="urw-din"/>
              </a:rPr>
              <a:t>are the python packages?</a:t>
            </a:r>
          </a:p>
          <a:p>
            <a:pPr>
              <a:lnSpc>
                <a:spcPct val="150000"/>
              </a:lnSpc>
            </a:pPr>
            <a:r>
              <a:rPr lang="en-US" dirty="0" smtClean="0"/>
              <a:t>	 A python package is </a:t>
            </a:r>
            <a:r>
              <a:rPr lang="en-US" b="1" dirty="0" smtClean="0"/>
              <a:t>a collection of modules</a:t>
            </a:r>
            <a:r>
              <a:rPr lang="en-US" dirty="0" smtClean="0"/>
              <a:t>. Modules that are related to each other are mainly put in the same package. When a module from an external package is required in a program, that package can be imported and its modules can be put to use. Any Python file, whose name is the module's name property without the .</a:t>
            </a:r>
          </a:p>
          <a:p>
            <a:pPr>
              <a:lnSpc>
                <a:spcPct val="150000"/>
              </a:lnSpc>
            </a:pPr>
            <a:r>
              <a:rPr lang="en-US" b="1" dirty="0" smtClean="0">
                <a:latin typeface="urw-din"/>
              </a:rPr>
              <a:t>16</a:t>
            </a:r>
            <a:r>
              <a:rPr lang="en-US" b="1" dirty="0" smtClean="0">
                <a:latin typeface="urw-din"/>
              </a:rPr>
              <a:t>. Indentation required in python?</a:t>
            </a:r>
          </a:p>
          <a:p>
            <a:pPr>
              <a:lnSpc>
                <a:spcPct val="150000"/>
              </a:lnSpc>
            </a:pPr>
            <a:r>
              <a:rPr lang="en-IN" dirty="0" smtClean="0"/>
              <a:t>	</a:t>
            </a:r>
            <a:r>
              <a:rPr lang="en-US" dirty="0" smtClean="0"/>
              <a:t>Indentation </a:t>
            </a:r>
            <a:r>
              <a:rPr lang="en-US" dirty="0"/>
              <a:t>refers to the spaces at the beginning of a code </a:t>
            </a:r>
            <a:r>
              <a:rPr lang="en-US" dirty="0" smtClean="0"/>
              <a:t>line. Where </a:t>
            </a:r>
            <a:r>
              <a:rPr lang="en-US" dirty="0"/>
              <a:t>in other programming languages the indentation in code is for readability only, the indentation in Python is very </a:t>
            </a:r>
            <a:r>
              <a:rPr lang="en-US" dirty="0" smtClean="0"/>
              <a:t>important. python </a:t>
            </a:r>
            <a:r>
              <a:rPr lang="en-US" dirty="0"/>
              <a:t>uses indentation to </a:t>
            </a:r>
            <a:r>
              <a:rPr lang="en-US" dirty="0" smtClean="0"/>
              <a:t>indicate </a:t>
            </a:r>
            <a:r>
              <a:rPr lang="en-US" dirty="0"/>
              <a:t>a block of code</a:t>
            </a:r>
            <a:r>
              <a:rPr lang="en-US" dirty="0" smtClean="0"/>
              <a:t>.</a:t>
            </a:r>
            <a:endParaRPr lang="en-US" dirty="0" smtClean="0"/>
          </a:p>
          <a:p>
            <a:r>
              <a:rPr lang="en-US" b="1" dirty="0" smtClean="0">
                <a:latin typeface="urw-din"/>
              </a:rPr>
              <a:t>17.How does break continue and pass work?</a:t>
            </a:r>
          </a:p>
          <a:p>
            <a:endParaRPr lang="en-US" dirty="0"/>
          </a:p>
          <a:p>
            <a:endParaRPr lang="en-US" dirty="0"/>
          </a:p>
          <a:p>
            <a:endParaRPr lang="en-IN" dirty="0"/>
          </a:p>
        </p:txBody>
      </p:sp>
      <p:graphicFrame>
        <p:nvGraphicFramePr>
          <p:cNvPr id="16" name="Table 15"/>
          <p:cNvGraphicFramePr>
            <a:graphicFrameLocks noGrp="1"/>
          </p:cNvGraphicFramePr>
          <p:nvPr>
            <p:extLst>
              <p:ext uri="{D42A27DB-BD31-4B8C-83A1-F6EECF244321}">
                <p14:modId xmlns:p14="http://schemas.microsoft.com/office/powerpoint/2010/main" val="2076644259"/>
              </p:ext>
            </p:extLst>
          </p:nvPr>
        </p:nvGraphicFramePr>
        <p:xfrm>
          <a:off x="282632" y="3761297"/>
          <a:ext cx="11370960" cy="2926080"/>
        </p:xfrm>
        <a:graphic>
          <a:graphicData uri="http://schemas.openxmlformats.org/drawingml/2006/table">
            <a:tbl>
              <a:tblPr firstRow="1" bandRow="1">
                <a:tableStyleId>{5C22544A-7EE6-4342-B048-85BDC9FD1C3A}</a:tableStyleId>
              </a:tblPr>
              <a:tblGrid>
                <a:gridCol w="3790320"/>
                <a:gridCol w="3790320"/>
                <a:gridCol w="3790320"/>
              </a:tblGrid>
              <a:tr h="329938">
                <a:tc>
                  <a:txBody>
                    <a:bodyPr/>
                    <a:lstStyle/>
                    <a:p>
                      <a:r>
                        <a:rPr lang="en-IN" sz="1800" dirty="0" smtClean="0">
                          <a:latin typeface="+mn-lt"/>
                        </a:rPr>
                        <a:t>BREAK  </a:t>
                      </a:r>
                      <a:endParaRPr lang="en-IN" sz="1800" dirty="0">
                        <a:latin typeface="+mn-lt"/>
                      </a:endParaRPr>
                    </a:p>
                  </a:txBody>
                  <a:tcPr/>
                </a:tc>
                <a:tc>
                  <a:txBody>
                    <a:bodyPr/>
                    <a:lstStyle/>
                    <a:p>
                      <a:r>
                        <a:rPr lang="en-IN" sz="1800" dirty="0" smtClean="0">
                          <a:latin typeface="+mn-lt"/>
                        </a:rPr>
                        <a:t>CONTINUE</a:t>
                      </a:r>
                      <a:endParaRPr lang="en-IN" sz="1800" dirty="0">
                        <a:latin typeface="+mn-lt"/>
                      </a:endParaRPr>
                    </a:p>
                  </a:txBody>
                  <a:tcPr/>
                </a:tc>
                <a:tc>
                  <a:txBody>
                    <a:bodyPr/>
                    <a:lstStyle/>
                    <a:p>
                      <a:r>
                        <a:rPr lang="en-IN" sz="1800" dirty="0" smtClean="0">
                          <a:latin typeface="+mn-lt"/>
                        </a:rPr>
                        <a:t>PASS</a:t>
                      </a:r>
                      <a:endParaRPr lang="en-IN" sz="1800" dirty="0">
                        <a:latin typeface="+mn-lt"/>
                      </a:endParaRPr>
                    </a:p>
                  </a:txBody>
                  <a:tcPr/>
                </a:tc>
              </a:tr>
              <a:tr h="23095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rgbClr val="273239"/>
                          </a:solidFill>
                          <a:effectLst/>
                          <a:latin typeface="+mn-lt"/>
                        </a:rPr>
                        <a:t>The break statement is used to terminate the loop or statement in which it is present. After that, the control will pass to the statements that are present after the break statement, if </a:t>
                      </a:r>
                      <a:r>
                        <a:rPr kumimoji="0" lang="en-US" sz="1800" b="0" i="0" u="none" strike="noStrike" cap="none" normalizeH="0" baseline="0" dirty="0" smtClean="0">
                          <a:ln>
                            <a:noFill/>
                          </a:ln>
                          <a:solidFill>
                            <a:srgbClr val="273239"/>
                          </a:solidFill>
                          <a:effectLst/>
                          <a:latin typeface="+mn-lt"/>
                        </a:rPr>
                        <a:t>available.</a:t>
                      </a:r>
                      <a:r>
                        <a:rPr kumimoji="0" lang="en-US" sz="1800" b="0" i="0" u="none" strike="noStrike" cap="none" normalizeH="0" baseline="0" dirty="0" smtClean="0">
                          <a:ln>
                            <a:noFill/>
                          </a:ln>
                          <a:solidFill>
                            <a:schemeClr val="tx1"/>
                          </a:solidFill>
                          <a:effectLst/>
                          <a:latin typeface="+mn-lt"/>
                        </a:rPr>
                        <a:t> </a:t>
                      </a:r>
                      <a:endParaRPr kumimoji="0" lang="en-US" sz="1800" b="0" i="0" u="none" strike="noStrike" cap="none" normalizeH="0" baseline="0" dirty="0" smtClean="0">
                        <a:ln>
                          <a:noFill/>
                        </a:ln>
                        <a:solidFill>
                          <a:schemeClr val="tx1"/>
                        </a:solidFill>
                        <a:effectLst/>
                        <a:latin typeface="+mn-lt"/>
                      </a:endParaRPr>
                    </a:p>
                    <a:p>
                      <a:endParaRPr lang="en-IN" sz="18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rgbClr val="273239"/>
                          </a:solidFill>
                          <a:effectLst/>
                          <a:latin typeface="+mn-lt"/>
                        </a:rPr>
                        <a:t>Continue is also a loop control statement just like the break statement. continue statement is opposite to that of break statement, instead of terminating the loop, it forces to execute the next iteration of the </a:t>
                      </a:r>
                      <a:r>
                        <a:rPr kumimoji="0" lang="en-US" sz="1800" b="0" i="0" u="none" strike="noStrike" cap="none" normalizeH="0" baseline="0" dirty="0" smtClean="0">
                          <a:ln>
                            <a:noFill/>
                          </a:ln>
                          <a:solidFill>
                            <a:srgbClr val="273239"/>
                          </a:solidFill>
                          <a:effectLst/>
                          <a:latin typeface="+mn-lt"/>
                        </a:rPr>
                        <a:t>loop.</a:t>
                      </a:r>
                      <a:r>
                        <a:rPr kumimoji="0" lang="en-US" sz="1800" b="0" i="0" u="none" strike="noStrike" cap="none" normalizeH="0" baseline="0" dirty="0" smtClean="0">
                          <a:ln>
                            <a:noFill/>
                          </a:ln>
                          <a:solidFill>
                            <a:schemeClr val="tx1"/>
                          </a:solidFill>
                          <a:effectLst/>
                          <a:latin typeface="+mn-lt"/>
                        </a:rPr>
                        <a:t> </a:t>
                      </a:r>
                      <a:endParaRPr kumimoji="0" lang="en-US" sz="1800" b="0" i="0" u="none" strike="noStrike" cap="none" normalizeH="0" baseline="0" dirty="0" smtClean="0">
                        <a:ln>
                          <a:noFill/>
                        </a:ln>
                        <a:solidFill>
                          <a:schemeClr val="tx1"/>
                        </a:solidFill>
                        <a:effectLst/>
                        <a:latin typeface="+mn-lt"/>
                      </a:endParaRPr>
                    </a:p>
                    <a:p>
                      <a:endParaRPr lang="en-IN" sz="180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rgbClr val="273239"/>
                          </a:solidFill>
                          <a:effectLst/>
                          <a:latin typeface="+mn-lt"/>
                        </a:rPr>
                        <a:t>As the name suggests pass statement simply does nothing. The pass statement in Python is used when a statement is required syntactically but you do not want any command or code to execute. It is like null operation, as nothing will happen is it is executed. </a:t>
                      </a:r>
                      <a:endParaRPr kumimoji="0" lang="en-US" sz="1800" b="0" i="0" u="none" strike="noStrike" cap="none" normalizeH="0" baseline="0" dirty="0" smtClean="0">
                        <a:ln>
                          <a:noFill/>
                        </a:ln>
                        <a:solidFill>
                          <a:schemeClr val="tx1"/>
                        </a:solidFill>
                        <a:effectLst/>
                        <a:latin typeface="+mn-lt"/>
                      </a:endParaRPr>
                    </a:p>
                    <a:p>
                      <a:endParaRPr lang="en-IN" sz="1800" dirty="0">
                        <a:latin typeface="+mn-lt"/>
                      </a:endParaRPr>
                    </a:p>
                  </a:txBody>
                  <a:tcPr/>
                </a:tc>
              </a:tr>
            </a:tbl>
          </a:graphicData>
        </a:graphic>
      </p:graphicFrame>
    </p:spTree>
    <p:extLst>
      <p:ext uri="{BB962C8B-B14F-4D97-AF65-F5344CB8AC3E}">
        <p14:creationId xmlns:p14="http://schemas.microsoft.com/office/powerpoint/2010/main" val="1035328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7091" y="263237"/>
            <a:ext cx="11457709" cy="6324808"/>
          </a:xfrm>
          <a:prstGeom prst="rect">
            <a:avLst/>
          </a:prstGeom>
          <a:noFill/>
        </p:spPr>
        <p:txBody>
          <a:bodyPr wrap="square" rtlCol="0">
            <a:spAutoFit/>
          </a:bodyPr>
          <a:lstStyle/>
          <a:p>
            <a:pPr>
              <a:lnSpc>
                <a:spcPct val="150000"/>
              </a:lnSpc>
            </a:pPr>
            <a:r>
              <a:rPr lang="en-US" b="1" dirty="0" smtClean="0">
                <a:latin typeface="urw-din"/>
              </a:rPr>
              <a:t>18.What </a:t>
            </a:r>
            <a:r>
              <a:rPr lang="en-US" b="1" dirty="0" smtClean="0">
                <a:latin typeface="urw-din"/>
              </a:rPr>
              <a:t>is the MAP function in python?</a:t>
            </a:r>
          </a:p>
          <a:p>
            <a:pPr>
              <a:lnSpc>
                <a:spcPct val="150000"/>
              </a:lnSpc>
            </a:pPr>
            <a:r>
              <a:rPr lang="en-US" dirty="0" smtClean="0"/>
              <a:t>	Map </a:t>
            </a:r>
            <a:r>
              <a:rPr lang="en-US" dirty="0"/>
              <a:t>in Python is a function that works as an iterator to return a result after applying a function to every item of an </a:t>
            </a:r>
            <a:r>
              <a:rPr lang="en-US" dirty="0" err="1"/>
              <a:t>iterable</a:t>
            </a:r>
            <a:r>
              <a:rPr lang="en-US" dirty="0"/>
              <a:t> (tuple, lists, etc.). It is used when you want to apply a single transformation function to all the </a:t>
            </a:r>
            <a:r>
              <a:rPr lang="en-US" dirty="0" err="1"/>
              <a:t>iterable</a:t>
            </a:r>
            <a:r>
              <a:rPr lang="en-US" dirty="0"/>
              <a:t> elements. The </a:t>
            </a:r>
            <a:r>
              <a:rPr lang="en-US" dirty="0" err="1"/>
              <a:t>iterable</a:t>
            </a:r>
            <a:r>
              <a:rPr lang="en-US" dirty="0"/>
              <a:t> and function are passed as arguments to the map </a:t>
            </a:r>
            <a:r>
              <a:rPr lang="en-US" dirty="0" smtClean="0"/>
              <a:t>in.</a:t>
            </a:r>
            <a:endParaRPr lang="en-US" dirty="0"/>
          </a:p>
          <a:p>
            <a:pPr>
              <a:lnSpc>
                <a:spcPct val="150000"/>
              </a:lnSpc>
            </a:pPr>
            <a:r>
              <a:rPr lang="en-US" b="1" dirty="0" smtClean="0">
                <a:latin typeface="urw-din"/>
              </a:rPr>
              <a:t>19.What is the pickling and </a:t>
            </a:r>
            <a:r>
              <a:rPr lang="en-US" b="1" dirty="0" err="1" smtClean="0">
                <a:latin typeface="urw-din"/>
              </a:rPr>
              <a:t>unpickling</a:t>
            </a:r>
            <a:r>
              <a:rPr lang="en-US" b="1" dirty="0" smtClean="0">
                <a:latin typeface="urw-din"/>
              </a:rPr>
              <a:t> in python? </a:t>
            </a:r>
          </a:p>
          <a:p>
            <a:pPr fontAlgn="base">
              <a:lnSpc>
                <a:spcPct val="150000"/>
              </a:lnSpc>
            </a:pPr>
            <a:r>
              <a:rPr lang="en-US" dirty="0"/>
              <a:t>	The pickle module is used for implementing binary protocols for serializing and de-serializing a Python object structure.  </a:t>
            </a:r>
          </a:p>
          <a:p>
            <a:pPr marL="285750" indent="-285750" fontAlgn="base">
              <a:lnSpc>
                <a:spcPct val="150000"/>
              </a:lnSpc>
              <a:buFont typeface="Arial" panose="020B0604020202020204" pitchFamily="34" charset="0"/>
              <a:buChar char="•"/>
            </a:pPr>
            <a:r>
              <a:rPr lang="en-US" dirty="0"/>
              <a:t>Pickling: It is a process where a Python object hierarchy is converted into a byte stream</a:t>
            </a:r>
            <a:r>
              <a:rPr lang="en-US" dirty="0" smtClean="0"/>
              <a:t>.</a:t>
            </a:r>
          </a:p>
          <a:p>
            <a:pPr marL="285750" indent="-285750" fontAlgn="base">
              <a:lnSpc>
                <a:spcPct val="150000"/>
              </a:lnSpc>
              <a:buFont typeface="Arial" panose="020B0604020202020204" pitchFamily="34" charset="0"/>
              <a:buChar char="•"/>
            </a:pPr>
            <a:r>
              <a:rPr lang="en-US" dirty="0" err="1" smtClean="0"/>
              <a:t>Unpickling</a:t>
            </a:r>
            <a:r>
              <a:rPr lang="en-US" dirty="0"/>
              <a:t>: It is the inverse of Pickling process where a byte stream is converted into an object hierarchy. </a:t>
            </a:r>
          </a:p>
          <a:p>
            <a:pPr>
              <a:lnSpc>
                <a:spcPct val="150000"/>
              </a:lnSpc>
            </a:pPr>
            <a:r>
              <a:rPr lang="en-IN" b="1" dirty="0" smtClean="0">
                <a:latin typeface="urw-din"/>
              </a:rPr>
              <a:t>20.What are the list and </a:t>
            </a:r>
            <a:r>
              <a:rPr lang="en-IN" b="1" dirty="0" err="1" smtClean="0">
                <a:latin typeface="urw-din"/>
              </a:rPr>
              <a:t>dict</a:t>
            </a:r>
            <a:r>
              <a:rPr lang="en-IN" b="1" dirty="0" smtClean="0">
                <a:latin typeface="urw-din"/>
              </a:rPr>
              <a:t> comprehensions?</a:t>
            </a:r>
          </a:p>
          <a:p>
            <a:pPr marL="285750" indent="-285750">
              <a:lnSpc>
                <a:spcPct val="150000"/>
              </a:lnSpc>
              <a:buFont typeface="Arial" panose="020B0604020202020204" pitchFamily="34" charset="0"/>
              <a:buChar char="•"/>
            </a:pPr>
            <a:r>
              <a:rPr lang="en-US" b="1" dirty="0" smtClean="0"/>
              <a:t>List Comprehensions : </a:t>
            </a:r>
            <a:r>
              <a:rPr lang="en-US" dirty="0" smtClean="0"/>
              <a:t>A </a:t>
            </a:r>
            <a:r>
              <a:rPr lang="en-US" dirty="0"/>
              <a:t>list comprehension processes data to return a list of values afterwards</a:t>
            </a:r>
            <a:r>
              <a:rPr lang="en-US" dirty="0" smtClean="0"/>
              <a:t>.</a:t>
            </a:r>
          </a:p>
          <a:p>
            <a:pPr>
              <a:lnSpc>
                <a:spcPct val="150000"/>
              </a:lnSpc>
            </a:pPr>
            <a:r>
              <a:rPr lang="pt-BR" dirty="0" smtClean="0"/>
              <a:t>	n </a:t>
            </a:r>
            <a:r>
              <a:rPr lang="pt-BR" dirty="0"/>
              <a:t>= [1, 6, 4, 2, 9, 15, 5] </a:t>
            </a:r>
            <a:r>
              <a:rPr lang="pt-BR" dirty="0" smtClean="0"/>
              <a:t>  </a:t>
            </a:r>
            <a:r>
              <a:rPr lang="pt-BR" dirty="0" smtClean="0"/>
              <a:t>	squared_n </a:t>
            </a:r>
            <a:r>
              <a:rPr lang="pt-BR" dirty="0"/>
              <a:t>= [x * x for x in n</a:t>
            </a:r>
            <a:r>
              <a:rPr lang="pt-BR" dirty="0" smtClean="0"/>
              <a:t>]</a:t>
            </a:r>
          </a:p>
          <a:p>
            <a:pPr marL="285750" indent="-285750">
              <a:lnSpc>
                <a:spcPct val="150000"/>
              </a:lnSpc>
              <a:buFont typeface="Arial" panose="020B0604020202020204" pitchFamily="34" charset="0"/>
              <a:buChar char="•"/>
            </a:pPr>
            <a:r>
              <a:rPr lang="en-US" b="1" dirty="0"/>
              <a:t>Dictionary </a:t>
            </a:r>
            <a:r>
              <a:rPr lang="en-US" b="1" dirty="0" smtClean="0"/>
              <a:t>Comprehensions : </a:t>
            </a:r>
            <a:r>
              <a:rPr lang="en-US" dirty="0" smtClean="0"/>
              <a:t>A </a:t>
            </a:r>
            <a:r>
              <a:rPr lang="en-US" dirty="0"/>
              <a:t>dictionary comprehension is similar to a list comprehension except it returns a dictionary of keys and values instead of a plain list</a:t>
            </a:r>
            <a:r>
              <a:rPr lang="en-US" dirty="0" smtClean="0"/>
              <a:t>.</a:t>
            </a:r>
          </a:p>
          <a:p>
            <a:pPr>
              <a:lnSpc>
                <a:spcPct val="150000"/>
              </a:lnSpc>
            </a:pPr>
            <a:r>
              <a:rPr lang="en-US" dirty="0" smtClean="0"/>
              <a:t>	</a:t>
            </a:r>
            <a:r>
              <a:rPr lang="en-US" dirty="0" err="1" smtClean="0"/>
              <a:t>numbers_with_squares</a:t>
            </a:r>
            <a:r>
              <a:rPr lang="en-US" dirty="0" smtClean="0"/>
              <a:t> </a:t>
            </a:r>
            <a:r>
              <a:rPr lang="en-US" dirty="0"/>
              <a:t>= {x: x*x for x in range(1, 11</a:t>
            </a:r>
            <a:r>
              <a:rPr lang="en-US" dirty="0" smtClean="0"/>
              <a:t>)}</a:t>
            </a:r>
            <a:endParaRPr lang="en-US" dirty="0"/>
          </a:p>
        </p:txBody>
      </p:sp>
    </p:spTree>
    <p:extLst>
      <p:ext uri="{BB962C8B-B14F-4D97-AF65-F5344CB8AC3E}">
        <p14:creationId xmlns:p14="http://schemas.microsoft.com/office/powerpoint/2010/main" val="829262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3964" y="166254"/>
            <a:ext cx="11734799" cy="6740307"/>
          </a:xfrm>
          <a:prstGeom prst="rect">
            <a:avLst/>
          </a:prstGeom>
          <a:noFill/>
        </p:spPr>
        <p:txBody>
          <a:bodyPr wrap="square" rtlCol="0">
            <a:spAutoFit/>
          </a:bodyPr>
          <a:lstStyle/>
          <a:p>
            <a:pPr>
              <a:lnSpc>
                <a:spcPct val="150000"/>
              </a:lnSpc>
            </a:pPr>
            <a:r>
              <a:rPr lang="en-IN" b="1" dirty="0" smtClean="0">
                <a:latin typeface="urw-din"/>
              </a:rPr>
              <a:t>21.Define encapsulation in python?</a:t>
            </a:r>
          </a:p>
          <a:p>
            <a:pPr>
              <a:lnSpc>
                <a:spcPct val="150000"/>
              </a:lnSpc>
            </a:pPr>
            <a:r>
              <a:rPr lang="en-IN" dirty="0"/>
              <a:t>	</a:t>
            </a:r>
            <a:r>
              <a:rPr lang="en-US" u="sng" dirty="0">
                <a:hlinkClick r:id="rId2"/>
              </a:rPr>
              <a:t>Encapsulation</a:t>
            </a:r>
            <a:r>
              <a:rPr lang="en-US" dirty="0"/>
              <a:t> in Python describes the concept of </a:t>
            </a:r>
            <a:r>
              <a:rPr lang="en-US" b="1" dirty="0"/>
              <a:t>bundling data and </a:t>
            </a:r>
            <a:r>
              <a:rPr lang="en-US" b="1" u="sng" dirty="0">
                <a:hlinkClick r:id="rId3"/>
              </a:rPr>
              <a:t>methods</a:t>
            </a:r>
            <a:r>
              <a:rPr lang="en-US" b="1" dirty="0"/>
              <a:t> within a single unit</a:t>
            </a:r>
            <a:r>
              <a:rPr lang="en-US" dirty="0"/>
              <a:t>. So, for example, when you create a </a:t>
            </a:r>
            <a:r>
              <a:rPr lang="en-US" u="sng" dirty="0">
                <a:hlinkClick r:id="rId4"/>
              </a:rPr>
              <a:t>class</a:t>
            </a:r>
            <a:r>
              <a:rPr lang="en-US" dirty="0"/>
              <a:t>, it means you are implementing encapsulation. A class is an example of encapsulation as it binds all the data members (</a:t>
            </a:r>
            <a:r>
              <a:rPr lang="en-US" u="sng" dirty="0">
                <a:hlinkClick r:id="rId5"/>
              </a:rPr>
              <a:t>instance variables</a:t>
            </a:r>
            <a:r>
              <a:rPr lang="en-US" dirty="0"/>
              <a:t>) and methods into a single unit</a:t>
            </a:r>
            <a:r>
              <a:rPr lang="en-US" dirty="0" smtClean="0"/>
              <a:t>.</a:t>
            </a:r>
            <a:endParaRPr lang="en-US" dirty="0"/>
          </a:p>
          <a:p>
            <a:pPr>
              <a:lnSpc>
                <a:spcPct val="150000"/>
              </a:lnSpc>
            </a:pPr>
            <a:r>
              <a:rPr lang="en-US" b="1" dirty="0" smtClean="0">
                <a:latin typeface="urw-din"/>
              </a:rPr>
              <a:t>22.What is polymorphism in python?</a:t>
            </a:r>
          </a:p>
          <a:p>
            <a:pPr>
              <a:lnSpc>
                <a:spcPct val="150000"/>
              </a:lnSpc>
            </a:pPr>
            <a:r>
              <a:rPr lang="en-US" dirty="0"/>
              <a:t>	The literal meaning of polymorphism is the condition of occurrence in different forms</a:t>
            </a:r>
            <a:r>
              <a:rPr lang="en-US" dirty="0" smtClean="0"/>
              <a:t>. Polymorphism </a:t>
            </a:r>
            <a:r>
              <a:rPr lang="en-US" dirty="0"/>
              <a:t>is a very important concept in programming. It refers to the use of a single type entity (method, operator or object) to represent different types in different scenarios.</a:t>
            </a:r>
          </a:p>
          <a:p>
            <a:pPr>
              <a:lnSpc>
                <a:spcPct val="150000"/>
              </a:lnSpc>
            </a:pPr>
            <a:r>
              <a:rPr lang="en-IN" b="1" dirty="0" smtClean="0">
                <a:latin typeface="urw-din"/>
              </a:rPr>
              <a:t>23</a:t>
            </a:r>
            <a:r>
              <a:rPr lang="en-IN" b="1" dirty="0" smtClean="0">
                <a:latin typeface="urw-din"/>
              </a:rPr>
              <a:t>. What is </a:t>
            </a:r>
            <a:r>
              <a:rPr lang="en-IN" b="1" dirty="0" err="1">
                <a:latin typeface="urw-din"/>
              </a:rPr>
              <a:t>D</a:t>
            </a:r>
            <a:r>
              <a:rPr lang="en-IN" b="1" dirty="0" err="1" smtClean="0">
                <a:latin typeface="urw-din"/>
              </a:rPr>
              <a:t>ocstring</a:t>
            </a:r>
            <a:r>
              <a:rPr lang="en-IN" b="1" dirty="0" smtClean="0">
                <a:latin typeface="urw-din"/>
              </a:rPr>
              <a:t> in python ?</a:t>
            </a:r>
          </a:p>
          <a:p>
            <a:pPr>
              <a:lnSpc>
                <a:spcPct val="150000"/>
              </a:lnSpc>
            </a:pPr>
            <a:r>
              <a:rPr lang="en-US" dirty="0" smtClean="0"/>
              <a:t>	A </a:t>
            </a:r>
            <a:r>
              <a:rPr lang="en-US" dirty="0"/>
              <a:t>Python </a:t>
            </a:r>
            <a:r>
              <a:rPr lang="en-US" dirty="0" err="1"/>
              <a:t>docstring</a:t>
            </a:r>
            <a:r>
              <a:rPr lang="en-US" dirty="0"/>
              <a:t> is a string used to document a Python module, class, function or method, so programmers can understand what it does without having to read the details of the implementation</a:t>
            </a:r>
            <a:r>
              <a:rPr lang="en-US" dirty="0" smtClean="0"/>
              <a:t>.  Also</a:t>
            </a:r>
            <a:r>
              <a:rPr lang="en-US" dirty="0"/>
              <a:t>, it is a common practice to generate online (html) documentation automatically from </a:t>
            </a:r>
            <a:r>
              <a:rPr lang="en-US" dirty="0" err="1"/>
              <a:t>docstrings</a:t>
            </a:r>
            <a:r>
              <a:rPr lang="en-US" dirty="0" smtClean="0"/>
              <a:t>.</a:t>
            </a:r>
          </a:p>
          <a:p>
            <a:pPr>
              <a:lnSpc>
                <a:spcPct val="150000"/>
              </a:lnSpc>
            </a:pPr>
            <a:r>
              <a:rPr lang="en-US" b="1" dirty="0" smtClean="0">
                <a:latin typeface="urw-din"/>
              </a:rPr>
              <a:t>24.What </a:t>
            </a:r>
            <a:r>
              <a:rPr lang="en-US" b="1" dirty="0" smtClean="0">
                <a:latin typeface="urw-din"/>
              </a:rPr>
              <a:t>is slicing in python?</a:t>
            </a:r>
          </a:p>
          <a:p>
            <a:pPr>
              <a:lnSpc>
                <a:spcPct val="150000"/>
              </a:lnSpc>
            </a:pPr>
            <a:r>
              <a:rPr lang="en-US" dirty="0" smtClean="0"/>
              <a:t>	The </a:t>
            </a:r>
            <a:r>
              <a:rPr lang="en-US" dirty="0"/>
              <a:t>slice() function returns a slice object. </a:t>
            </a:r>
            <a:r>
              <a:rPr lang="en-US" b="1" dirty="0"/>
              <a:t>A slice object is used to specify how to slice a sequence</a:t>
            </a:r>
            <a:r>
              <a:rPr lang="en-US" dirty="0"/>
              <a:t>. You can specify where to start the slicing, and where to end. You can also specify the step, which allows you to e.g. slice only every other item</a:t>
            </a:r>
            <a:r>
              <a:rPr lang="en-US" dirty="0" smtClean="0"/>
              <a:t>.</a:t>
            </a:r>
            <a:r>
              <a:rPr lang="en-IN" dirty="0" smtClean="0"/>
              <a:t> </a:t>
            </a:r>
            <a:endParaRPr lang="en-IN" dirty="0"/>
          </a:p>
        </p:txBody>
      </p:sp>
    </p:spTree>
    <p:extLst>
      <p:ext uri="{BB962C8B-B14F-4D97-AF65-F5344CB8AC3E}">
        <p14:creationId xmlns:p14="http://schemas.microsoft.com/office/powerpoint/2010/main" val="1042066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7091" y="221673"/>
            <a:ext cx="11083636" cy="6324808"/>
          </a:xfrm>
          <a:prstGeom prst="rect">
            <a:avLst/>
          </a:prstGeom>
          <a:noFill/>
        </p:spPr>
        <p:txBody>
          <a:bodyPr wrap="square" rtlCol="0">
            <a:spAutoFit/>
          </a:bodyPr>
          <a:lstStyle/>
          <a:p>
            <a:pPr>
              <a:lnSpc>
                <a:spcPct val="150000"/>
              </a:lnSpc>
            </a:pPr>
            <a:r>
              <a:rPr lang="en-IN" b="1" dirty="0" smtClean="0">
                <a:latin typeface="urw-din"/>
              </a:rPr>
              <a:t>25.What is monkey patching in python ?</a:t>
            </a:r>
          </a:p>
          <a:p>
            <a:pPr>
              <a:lnSpc>
                <a:spcPct val="150000"/>
              </a:lnSpc>
            </a:pPr>
            <a:r>
              <a:rPr lang="en-US" dirty="0" smtClean="0"/>
              <a:t>	In </a:t>
            </a:r>
            <a:r>
              <a:rPr lang="en-US" dirty="0"/>
              <a:t>Python, the term monkey patch refers to dynamic (or run-time) modifications of a class or module. In Python, we can actually change the behavior of code at run-time</a:t>
            </a:r>
            <a:r>
              <a:rPr lang="en-US" dirty="0" smtClean="0"/>
              <a:t>.</a:t>
            </a:r>
            <a:endParaRPr lang="en-US" dirty="0"/>
          </a:p>
          <a:p>
            <a:pPr>
              <a:lnSpc>
                <a:spcPct val="150000"/>
              </a:lnSpc>
            </a:pPr>
            <a:r>
              <a:rPr lang="en-US" b="1" dirty="0" smtClean="0">
                <a:latin typeface="urw-din"/>
              </a:rPr>
              <a:t>26.What is the difference </a:t>
            </a:r>
            <a:r>
              <a:rPr lang="en-US" b="1" dirty="0" smtClean="0">
                <a:latin typeface="urw-din"/>
              </a:rPr>
              <a:t>between </a:t>
            </a:r>
            <a:r>
              <a:rPr lang="en-US" b="1" dirty="0" smtClean="0">
                <a:latin typeface="urw-din"/>
              </a:rPr>
              <a:t>“/” and “//” operator in python?</a:t>
            </a:r>
          </a:p>
          <a:p>
            <a:pPr marL="285750" indent="-285750">
              <a:lnSpc>
                <a:spcPct val="150000"/>
              </a:lnSpc>
              <a:buFont typeface="Arial" panose="020B0604020202020204" pitchFamily="34" charset="0"/>
              <a:buChar char="•"/>
            </a:pPr>
            <a:r>
              <a:rPr lang="en-US" b="1" dirty="0" smtClean="0"/>
              <a:t>Float </a:t>
            </a:r>
            <a:r>
              <a:rPr lang="en-US" b="1" dirty="0"/>
              <a:t>Division("/"):</a:t>
            </a:r>
            <a:r>
              <a:rPr lang="en-US" dirty="0"/>
              <a:t> Divides left hand operand by right hand operand</a:t>
            </a:r>
            <a:r>
              <a:rPr lang="en-US" dirty="0" smtClean="0"/>
              <a:t>.   </a:t>
            </a:r>
            <a:r>
              <a:rPr lang="en-US" dirty="0" err="1" smtClean="0"/>
              <a:t>Eg</a:t>
            </a:r>
            <a:r>
              <a:rPr lang="en-US" dirty="0" smtClean="0"/>
              <a:t>:       </a:t>
            </a:r>
            <a:r>
              <a:rPr lang="en-US" dirty="0" smtClean="0"/>
              <a:t>5/2 = 2.5</a:t>
            </a:r>
          </a:p>
          <a:p>
            <a:pPr marL="285750" indent="-285750">
              <a:lnSpc>
                <a:spcPct val="150000"/>
              </a:lnSpc>
              <a:buFont typeface="Arial" panose="020B0604020202020204" pitchFamily="34" charset="0"/>
              <a:buChar char="•"/>
            </a:pPr>
            <a:r>
              <a:rPr lang="en-US" b="1" dirty="0" smtClean="0"/>
              <a:t>Floor </a:t>
            </a:r>
            <a:r>
              <a:rPr lang="en-US" b="1" dirty="0"/>
              <a:t>Division("//"):</a:t>
            </a:r>
            <a:r>
              <a:rPr lang="en-US" dirty="0"/>
              <a:t> The division of operands where the result is the quotient in which the digits after </a:t>
            </a:r>
            <a:r>
              <a:rPr lang="en-US" dirty="0" smtClean="0"/>
              <a:t>the decimal </a:t>
            </a:r>
            <a:r>
              <a:rPr lang="en-US" dirty="0"/>
              <a:t>point are removed. But if one of the </a:t>
            </a:r>
            <a:r>
              <a:rPr lang="en-US" b="1" dirty="0"/>
              <a:t>operands is negative,</a:t>
            </a:r>
            <a:r>
              <a:rPr lang="en-US" dirty="0"/>
              <a:t> the result is floored , i.e., rounded away from zero (towards negative infinity).  </a:t>
            </a:r>
            <a:r>
              <a:rPr lang="en-US" dirty="0" smtClean="0"/>
              <a:t>   </a:t>
            </a:r>
            <a:r>
              <a:rPr lang="en-US" dirty="0" err="1" smtClean="0"/>
              <a:t>Eg</a:t>
            </a:r>
            <a:r>
              <a:rPr lang="en-US" dirty="0" smtClean="0"/>
              <a:t> :     </a:t>
            </a:r>
            <a:r>
              <a:rPr lang="en-US" dirty="0" smtClean="0"/>
              <a:t>5//2 = 2</a:t>
            </a:r>
            <a:endParaRPr lang="en-US" dirty="0"/>
          </a:p>
          <a:p>
            <a:pPr>
              <a:lnSpc>
                <a:spcPct val="150000"/>
              </a:lnSpc>
            </a:pPr>
            <a:r>
              <a:rPr lang="en-IN" b="1" dirty="0" smtClean="0">
                <a:latin typeface="urw-din"/>
              </a:rPr>
              <a:t>27.What </a:t>
            </a:r>
            <a:r>
              <a:rPr lang="en-IN" b="1" dirty="0" smtClean="0">
                <a:latin typeface="urw-din"/>
              </a:rPr>
              <a:t>is the regression ?</a:t>
            </a:r>
          </a:p>
          <a:p>
            <a:pPr>
              <a:lnSpc>
                <a:spcPct val="150000"/>
              </a:lnSpc>
            </a:pPr>
            <a:r>
              <a:rPr lang="en-US" dirty="0" smtClean="0"/>
              <a:t>		he </a:t>
            </a:r>
            <a:r>
              <a:rPr lang="en-US" dirty="0"/>
              <a:t>term regression is used when you try to find the relationship between variables.</a:t>
            </a:r>
          </a:p>
          <a:p>
            <a:pPr>
              <a:lnSpc>
                <a:spcPct val="150000"/>
              </a:lnSpc>
            </a:pPr>
            <a:r>
              <a:rPr lang="en-US" dirty="0"/>
              <a:t>In Machine Learning, and in statistical modeling, that relationship is used to predict the outcome of future events</a:t>
            </a:r>
            <a:r>
              <a:rPr lang="en-US" dirty="0" smtClean="0"/>
              <a:t>.</a:t>
            </a:r>
            <a:endParaRPr lang="en-US" dirty="0"/>
          </a:p>
          <a:p>
            <a:pPr>
              <a:lnSpc>
                <a:spcPct val="150000"/>
              </a:lnSpc>
            </a:pPr>
            <a:r>
              <a:rPr lang="en-US" b="1" dirty="0" smtClean="0">
                <a:latin typeface="urw-din"/>
              </a:rPr>
              <a:t>28.Define modules in python ?</a:t>
            </a:r>
          </a:p>
          <a:p>
            <a:pPr fontAlgn="base">
              <a:lnSpc>
                <a:spcPct val="150000"/>
              </a:lnSpc>
            </a:pPr>
            <a:r>
              <a:rPr lang="en-US" dirty="0"/>
              <a:t>	A Python module is a file containing Python definitions and statements. A module can define functions, classes, and variables. A module can also include runnable code. Grouping related code into a module makes the code easier to understand and use. It also makes the code logically organized</a:t>
            </a:r>
            <a:r>
              <a:rPr lang="en-US" dirty="0" smtClean="0"/>
              <a:t>.</a:t>
            </a:r>
            <a:endParaRPr lang="en-US" dirty="0"/>
          </a:p>
        </p:txBody>
      </p:sp>
    </p:spTree>
    <p:extLst>
      <p:ext uri="{BB962C8B-B14F-4D97-AF65-F5344CB8AC3E}">
        <p14:creationId xmlns:p14="http://schemas.microsoft.com/office/powerpoint/2010/main" val="4274513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5744" y="2346325"/>
            <a:ext cx="3823855" cy="1325563"/>
          </a:xfrm>
        </p:spPr>
        <p:txBody>
          <a:bodyPr/>
          <a:lstStyle/>
          <a:p>
            <a:r>
              <a:rPr lang="en-IN" dirty="0" smtClean="0"/>
              <a:t>THANK YOU!..</a:t>
            </a:r>
            <a:endParaRPr lang="en-IN" dirty="0"/>
          </a:p>
        </p:txBody>
      </p:sp>
    </p:spTree>
    <p:extLst>
      <p:ext uri="{BB962C8B-B14F-4D97-AF65-F5344CB8AC3E}">
        <p14:creationId xmlns:p14="http://schemas.microsoft.com/office/powerpoint/2010/main" val="145197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619</TotalTime>
  <Words>911</Words>
  <Application>Microsoft Office PowerPoint</Application>
  <PresentationFormat>Widescreen</PresentationFormat>
  <Paragraphs>297</Paragraphs>
  <Slides>23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Segoe UI</vt:lpstr>
      <vt:lpstr>Times New Roman</vt:lpstr>
      <vt:lpstr>urw-din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ELCOT</dc:creator>
  <cp:lastModifiedBy>ELCOT</cp:lastModifiedBy>
  <cp:revision>61</cp:revision>
  <dcterms:created xsi:type="dcterms:W3CDTF">2022-09-08T06:43:28Z</dcterms:created>
  <dcterms:modified xsi:type="dcterms:W3CDTF">2022-10-03T07:19:13Z</dcterms:modified>
</cp:coreProperties>
</file>